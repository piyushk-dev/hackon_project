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://54.252.207.144/" TargetMode="External"/><Relationship Id="rId2" Type="http://schemas.openxmlformats.org/officeDocument/2006/relationships/hyperlink" Target="https://github.com/piyushk-dev/hackon_project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thequacker/hackon_project/hackon_project/deck/assets/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6240" y="6324600"/>
            <a:ext cx="579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</a:t>
            </a:r>
            <a:pPr algn="l" indent="0" marL="0">
              <a:buNone/>
            </a:pPr>
            <a:r>
              <a:rPr lang="en-US" sz="960" b="1" dirty="0">
                <a:solidFill>
                  <a:srgbClr val="0A5A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 Raisers</a:t>
            </a:r>
            <a:pPr algn="l"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Priyanshu Agarwal &amp; Piyush Kumar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3820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NEXT TEN MINUTES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1143000"/>
            <a:ext cx="5029200" cy="312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52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From a command-taker to a </a:t>
            </a:r>
            <a:pPr indent="0" marL="0">
              <a:lnSpc>
                <a:spcPct val="98000"/>
              </a:lnSpc>
              <a:buNone/>
            </a:pPr>
            <a:r>
              <a:rPr lang="en-US" sz="528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household partner</a:t>
            </a:r>
            <a:pPr indent="0" marL="0">
              <a:lnSpc>
                <a:spcPct val="98000"/>
              </a:lnSpc>
              <a:buNone/>
            </a:pPr>
            <a:r>
              <a:rPr lang="en-US" sz="52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5280" dirty="0"/>
          </a:p>
        </p:txBody>
      </p:sp>
      <p:sp>
        <p:nvSpPr>
          <p:cNvPr id="4" name="Text 2"/>
          <p:cNvSpPr/>
          <p:nvPr/>
        </p:nvSpPr>
        <p:spPr>
          <a:xfrm>
            <a:off x="1066800" y="44196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Alexa that learns the rhythm of an Indian home and acts </a:t>
            </a:r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anyone asks — every action explained, every liberty earned.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705600" y="83820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1560" dirty="0"/>
          </a:p>
        </p:txBody>
      </p:sp>
      <p:sp>
        <p:nvSpPr>
          <p:cNvPr id="6" name="Text 4"/>
          <p:cNvSpPr/>
          <p:nvPr/>
        </p:nvSpPr>
        <p:spPr>
          <a:xfrm>
            <a:off x="7345680" y="82296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440" dirty="0"/>
          </a:p>
        </p:txBody>
      </p:sp>
      <p:sp>
        <p:nvSpPr>
          <p:cNvPr id="7" name="Text 5"/>
          <p:cNvSpPr/>
          <p:nvPr/>
        </p:nvSpPr>
        <p:spPr>
          <a:xfrm>
            <a:off x="7345680" y="112776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today's Alexa can't do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705600" y="146304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05600" y="161544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1560" dirty="0"/>
          </a:p>
        </p:txBody>
      </p:sp>
      <p:sp>
        <p:nvSpPr>
          <p:cNvPr id="10" name="Text 8"/>
          <p:cNvSpPr/>
          <p:nvPr/>
        </p:nvSpPr>
        <p:spPr>
          <a:xfrm>
            <a:off x="7345680" y="160020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scenario</a:t>
            </a:r>
            <a:endParaRPr lang="en-US" sz="1440" dirty="0"/>
          </a:p>
        </p:txBody>
      </p:sp>
      <p:sp>
        <p:nvSpPr>
          <p:cNvPr id="11" name="Text 9"/>
          <p:cNvSpPr/>
          <p:nvPr/>
        </p:nvSpPr>
        <p:spPr>
          <a:xfrm>
            <a:off x="7345680" y="190500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Dadaji's 6:45 bath — thirty mornings of it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705600" y="224028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05600" y="239268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1560" dirty="0"/>
          </a:p>
        </p:txBody>
      </p:sp>
      <p:sp>
        <p:nvSpPr>
          <p:cNvPr id="14" name="Text 12"/>
          <p:cNvSpPr/>
          <p:nvPr/>
        </p:nvSpPr>
        <p:spPr>
          <a:xfrm>
            <a:off x="7345680" y="237744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 need as a customer</a:t>
            </a:r>
            <a:endParaRPr lang="en-US" sz="1440" dirty="0"/>
          </a:p>
        </p:txBody>
      </p:sp>
      <p:sp>
        <p:nvSpPr>
          <p:cNvPr id="15" name="Text 13"/>
          <p:cNvSpPr/>
          <p:nvPr/>
        </p:nvSpPr>
        <p:spPr>
          <a:xfrm>
            <a:off x="7345680" y="268224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what we built for each need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05600" y="301752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05600" y="316992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1560" dirty="0"/>
          </a:p>
        </p:txBody>
      </p:sp>
      <p:sp>
        <p:nvSpPr>
          <p:cNvPr id="18" name="Text 16"/>
          <p:cNvSpPr/>
          <p:nvPr/>
        </p:nvSpPr>
        <p:spPr>
          <a:xfrm>
            <a:off x="7345680" y="315468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7345680" y="345948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day in an Indian home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705600" y="379476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05600" y="394716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1560" dirty="0"/>
          </a:p>
        </p:txBody>
      </p:sp>
      <p:sp>
        <p:nvSpPr>
          <p:cNvPr id="22" name="Text 20"/>
          <p:cNvSpPr/>
          <p:nvPr/>
        </p:nvSpPr>
        <p:spPr>
          <a:xfrm>
            <a:off x="7345680" y="393192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architecture</a:t>
            </a:r>
            <a:endParaRPr lang="en-US" sz="1440" dirty="0"/>
          </a:p>
        </p:txBody>
      </p:sp>
      <p:sp>
        <p:nvSpPr>
          <p:cNvPr id="23" name="Text 21"/>
          <p:cNvSpPr/>
          <p:nvPr/>
        </p:nvSpPr>
        <p:spPr>
          <a:xfrm>
            <a:off x="7345680" y="423672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routine model + an LLM that knows today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705600" y="457200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05600" y="472440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</a:t>
            </a:r>
            <a:endParaRPr lang="en-US" sz="1560" dirty="0"/>
          </a:p>
        </p:txBody>
      </p:sp>
      <p:sp>
        <p:nvSpPr>
          <p:cNvPr id="26" name="Text 24"/>
          <p:cNvSpPr/>
          <p:nvPr/>
        </p:nvSpPr>
        <p:spPr>
          <a:xfrm>
            <a:off x="7345680" y="470916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&amp; future vision</a:t>
            </a:r>
            <a:endParaRPr lang="en-US" sz="1440" dirty="0"/>
          </a:p>
        </p:txBody>
      </p:sp>
      <p:sp>
        <p:nvSpPr>
          <p:cNvPr id="27" name="Text 25"/>
          <p:cNvSpPr/>
          <p:nvPr/>
        </p:nvSpPr>
        <p:spPr>
          <a:xfrm>
            <a:off x="7345680" y="501396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this unlocks for the next billion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705600" y="534924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05600" y="550164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07</a:t>
            </a:r>
            <a:endParaRPr lang="en-US" sz="1560" dirty="0"/>
          </a:p>
        </p:txBody>
      </p:sp>
      <p:sp>
        <p:nvSpPr>
          <p:cNvPr id="30" name="Text 28"/>
          <p:cNvSpPr/>
          <p:nvPr/>
        </p:nvSpPr>
        <p:spPr>
          <a:xfrm>
            <a:off x="7345680" y="548640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Questions</a:t>
            </a:r>
            <a:endParaRPr lang="en-US" sz="1440" dirty="0"/>
          </a:p>
        </p:txBody>
      </p:sp>
      <p:sp>
        <p:nvSpPr>
          <p:cNvPr id="31" name="Shape 29"/>
          <p:cNvSpPr/>
          <p:nvPr/>
        </p:nvSpPr>
        <p:spPr>
          <a:xfrm>
            <a:off x="6705600" y="592836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9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7315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1021080"/>
            <a:ext cx="101346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Indian homes run on rhythm.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Smart homes still 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B048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wait for orders</a:t>
            </a:r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066800" y="2651760"/>
            <a:ext cx="10058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80" i="1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“Alexa, you should already know this.”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— a multi-generational household issues dozens of commands a day to devices that never learn what happens next.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66800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6" name="Shape 4"/>
          <p:cNvSpPr/>
          <p:nvPr/>
        </p:nvSpPr>
        <p:spPr>
          <a:xfrm>
            <a:off x="1059180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" name="Text 5"/>
          <p:cNvSpPr/>
          <p:nvPr/>
        </p:nvSpPr>
        <p:spPr>
          <a:xfrm>
            <a:off x="1066800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05:30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66800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Morning pooja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03714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0" name="Shape 8"/>
          <p:cNvSpPr/>
          <p:nvPr/>
        </p:nvSpPr>
        <p:spPr>
          <a:xfrm>
            <a:off x="2496094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11" name="Text 9"/>
          <p:cNvSpPr/>
          <p:nvPr/>
        </p:nvSpPr>
        <p:spPr>
          <a:xfrm>
            <a:off x="2503714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06:15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503714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Geyser for bath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40629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4" name="Shape 12"/>
          <p:cNvSpPr/>
          <p:nvPr/>
        </p:nvSpPr>
        <p:spPr>
          <a:xfrm>
            <a:off x="3933009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5" name="Text 13"/>
          <p:cNvSpPr/>
          <p:nvPr/>
        </p:nvSpPr>
        <p:spPr>
          <a:xfrm>
            <a:off x="3940629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07:30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940629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Pressure-cooker breakfast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377543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8" name="Shape 16"/>
          <p:cNvSpPr/>
          <p:nvPr/>
        </p:nvSpPr>
        <p:spPr>
          <a:xfrm>
            <a:off x="5369923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19" name="Text 17"/>
          <p:cNvSpPr/>
          <p:nvPr/>
        </p:nvSpPr>
        <p:spPr>
          <a:xfrm>
            <a:off x="5377543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08:00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77543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Water motor 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814457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22" name="Shape 20"/>
          <p:cNvSpPr/>
          <p:nvPr/>
        </p:nvSpPr>
        <p:spPr>
          <a:xfrm>
            <a:off x="6806837" y="3406140"/>
            <a:ext cx="99060" cy="99060"/>
          </a:xfrm>
          <a:prstGeom prst="ellipse">
            <a:avLst/>
          </a:prstGeom>
          <a:solidFill>
            <a:srgbClr val="B0483A"/>
          </a:solidFill>
          <a:ln/>
        </p:spPr>
      </p:sp>
      <p:sp>
        <p:nvSpPr>
          <p:cNvPr id="23" name="Text 21"/>
          <p:cNvSpPr/>
          <p:nvPr/>
        </p:nvSpPr>
        <p:spPr>
          <a:xfrm>
            <a:off x="6814457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14:00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14457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cut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251371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26" name="Shape 24"/>
          <p:cNvSpPr/>
          <p:nvPr/>
        </p:nvSpPr>
        <p:spPr>
          <a:xfrm>
            <a:off x="8243751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27" name="Text 25"/>
          <p:cNvSpPr/>
          <p:nvPr/>
        </p:nvSpPr>
        <p:spPr>
          <a:xfrm>
            <a:off x="8251371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17:00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51371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Tuition hours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688286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30" name="Shape 28"/>
          <p:cNvSpPr/>
          <p:nvPr/>
        </p:nvSpPr>
        <p:spPr>
          <a:xfrm>
            <a:off x="9680666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1" name="Text 29"/>
          <p:cNvSpPr/>
          <p:nvPr/>
        </p:nvSpPr>
        <p:spPr>
          <a:xfrm>
            <a:off x="9688286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18:30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688286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Evening chai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6680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06680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35" name="Text 33"/>
          <p:cNvSpPr/>
          <p:nvPr/>
        </p:nvSpPr>
        <p:spPr>
          <a:xfrm>
            <a:off x="132588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Reactive, not ready</a:t>
            </a:r>
            <a:endParaRPr lang="en-US" sz="1560" dirty="0"/>
          </a:p>
        </p:txBody>
      </p:sp>
      <p:sp>
        <p:nvSpPr>
          <p:cNvPr id="36" name="Text 34"/>
          <p:cNvSpPr/>
          <p:nvPr/>
        </p:nvSpPr>
        <p:spPr>
          <a:xfrm>
            <a:off x="132588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"Alexa, turn on the geyser" — every single morning. The assistant obeys, but the hot water is still 20 minutes late.</a:t>
            </a:r>
            <a:endParaRPr lang="en-US" sz="960" dirty="0"/>
          </a:p>
        </p:txBody>
      </p:sp>
      <p:sp>
        <p:nvSpPr>
          <p:cNvPr id="37" name="Shape 35"/>
          <p:cNvSpPr/>
          <p:nvPr/>
        </p:nvSpPr>
        <p:spPr>
          <a:xfrm>
            <a:off x="448056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48056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39" name="Text 37"/>
          <p:cNvSpPr/>
          <p:nvPr/>
        </p:nvSpPr>
        <p:spPr>
          <a:xfrm>
            <a:off x="473964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Context-blind</a:t>
            </a:r>
            <a:endParaRPr lang="en-US" sz="1560" dirty="0"/>
          </a:p>
        </p:txBody>
      </p:sp>
      <p:sp>
        <p:nvSpPr>
          <p:cNvPr id="40" name="Text 38"/>
          <p:cNvSpPr/>
          <p:nvPr/>
        </p:nvSpPr>
        <p:spPr>
          <a:xfrm>
            <a:off x="473964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doesn't know a power cut is different during a child's online class, or that grandparents bathe before everyone wakes.</a:t>
            </a:r>
            <a:endParaRPr lang="en-US" sz="960" dirty="0"/>
          </a:p>
        </p:txBody>
      </p:sp>
      <p:sp>
        <p:nvSpPr>
          <p:cNvPr id="41" name="Shape 39"/>
          <p:cNvSpPr/>
          <p:nvPr/>
        </p:nvSpPr>
        <p:spPr>
          <a:xfrm>
            <a:off x="789432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89432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43" name="Text 41"/>
          <p:cNvSpPr/>
          <p:nvPr/>
        </p:nvSpPr>
        <p:spPr>
          <a:xfrm>
            <a:off x="815340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Trust was never earned</a:t>
            </a:r>
            <a:endParaRPr lang="en-US" sz="1560" dirty="0"/>
          </a:p>
        </p:txBody>
      </p:sp>
      <p:sp>
        <p:nvSpPr>
          <p:cNvPr id="44" name="Text 42"/>
          <p:cNvSpPr/>
          <p:nvPr/>
        </p:nvSpPr>
        <p:spPr>
          <a:xfrm>
            <a:off x="815340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explanations, no way to correct it — so families keep automation switched off and do everything by hand.</a:t>
            </a:r>
            <a:endParaRPr lang="en-US" sz="960" dirty="0"/>
          </a:p>
        </p:txBody>
      </p:sp>
      <p:sp>
        <p:nvSpPr>
          <p:cNvPr id="45" name="Text 43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9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4008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SCENARIO — DADAJI'S BATH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29640"/>
            <a:ext cx="762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30 mornings. </a:t>
            </a:r>
            <a:pPr indent="0" marL="0">
              <a:buNone/>
            </a:pPr>
            <a:r>
              <a:rPr lang="en-US" sz="384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One pattern.</a:t>
            </a:r>
            <a:endParaRPr lang="en-US" sz="3840" dirty="0"/>
          </a:p>
        </p:txBody>
      </p:sp>
      <p:sp>
        <p:nvSpPr>
          <p:cNvPr id="4" name="Shape 2"/>
          <p:cNvSpPr/>
          <p:nvPr/>
        </p:nvSpPr>
        <p:spPr>
          <a:xfrm>
            <a:off x="3153114" y="2148840"/>
            <a:ext cx="1256353" cy="4114800"/>
          </a:xfrm>
          <a:prstGeom prst="roundRect">
            <a:avLst>
              <a:gd name="adj" fmla="val 5095"/>
            </a:avLst>
          </a:prstGeom>
          <a:solidFill>
            <a:srgbClr val="0E7C72">
              <a:alpha val="1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433241" y="2148840"/>
            <a:ext cx="958395" cy="4114800"/>
          </a:xfrm>
          <a:prstGeom prst="roundRect">
            <a:avLst>
              <a:gd name="adj" fmla="val 6679"/>
            </a:avLst>
          </a:prstGeom>
          <a:solidFill>
            <a:srgbClr val="C77414">
              <a:alpha val="1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612571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07771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AM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4180114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5314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AM</a:t>
            </a:r>
            <a:endParaRPr lang="en-US" sz="690" dirty="0"/>
          </a:p>
        </p:txBody>
      </p:sp>
      <p:sp>
        <p:nvSpPr>
          <p:cNvPr id="10" name="Shape 8"/>
          <p:cNvSpPr/>
          <p:nvPr/>
        </p:nvSpPr>
        <p:spPr>
          <a:xfrm>
            <a:off x="5747657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42857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AM</a:t>
            </a:r>
            <a:endParaRPr lang="en-US" sz="690" dirty="0"/>
          </a:p>
        </p:txBody>
      </p:sp>
      <p:sp>
        <p:nvSpPr>
          <p:cNvPr id="12" name="Shape 10"/>
          <p:cNvSpPr/>
          <p:nvPr/>
        </p:nvSpPr>
        <p:spPr>
          <a:xfrm>
            <a:off x="7315200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10400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AM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1028700" y="213360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</a:t>
            </a:r>
            <a:endParaRPr lang="en-US" sz="630" dirty="0"/>
          </a:p>
        </p:txBody>
      </p:sp>
      <p:sp>
        <p:nvSpPr>
          <p:cNvPr id="15" name="Text 13"/>
          <p:cNvSpPr/>
          <p:nvPr/>
        </p:nvSpPr>
        <p:spPr>
          <a:xfrm>
            <a:off x="1554480" y="213360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16" name="Shape 14"/>
          <p:cNvSpPr/>
          <p:nvPr/>
        </p:nvSpPr>
        <p:spPr>
          <a:xfrm>
            <a:off x="3793864" y="215265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7" name="Text 15"/>
          <p:cNvSpPr/>
          <p:nvPr/>
        </p:nvSpPr>
        <p:spPr>
          <a:xfrm>
            <a:off x="1028700" y="226771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</a:t>
            </a:r>
            <a:endParaRPr lang="en-US" sz="630" dirty="0"/>
          </a:p>
        </p:txBody>
      </p:sp>
      <p:sp>
        <p:nvSpPr>
          <p:cNvPr id="18" name="Text 16"/>
          <p:cNvSpPr/>
          <p:nvPr/>
        </p:nvSpPr>
        <p:spPr>
          <a:xfrm>
            <a:off x="1554480" y="226771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19" name="Shape 17"/>
          <p:cNvSpPr/>
          <p:nvPr/>
        </p:nvSpPr>
        <p:spPr>
          <a:xfrm>
            <a:off x="3722002" y="228676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0" name="Text 18"/>
          <p:cNvSpPr/>
          <p:nvPr/>
        </p:nvSpPr>
        <p:spPr>
          <a:xfrm>
            <a:off x="1028700" y="240182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3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554480" y="240182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</a:t>
            </a:r>
            <a:endParaRPr lang="en-US" sz="570" dirty="0"/>
          </a:p>
        </p:txBody>
      </p:sp>
      <p:sp>
        <p:nvSpPr>
          <p:cNvPr id="22" name="Shape 20"/>
          <p:cNvSpPr/>
          <p:nvPr/>
        </p:nvSpPr>
        <p:spPr>
          <a:xfrm>
            <a:off x="4869724" y="242087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3" name="Text 21"/>
          <p:cNvSpPr/>
          <p:nvPr/>
        </p:nvSpPr>
        <p:spPr>
          <a:xfrm>
            <a:off x="1028700" y="253593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4</a:t>
            </a:r>
            <a:endParaRPr lang="en-US" sz="630" dirty="0"/>
          </a:p>
        </p:txBody>
      </p:sp>
      <p:sp>
        <p:nvSpPr>
          <p:cNvPr id="24" name="Text 22"/>
          <p:cNvSpPr/>
          <p:nvPr/>
        </p:nvSpPr>
        <p:spPr>
          <a:xfrm>
            <a:off x="1554480" y="253593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25" name="Shape 23"/>
          <p:cNvSpPr/>
          <p:nvPr/>
        </p:nvSpPr>
        <p:spPr>
          <a:xfrm>
            <a:off x="3826138" y="255498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6" name="Text 24"/>
          <p:cNvSpPr/>
          <p:nvPr/>
        </p:nvSpPr>
        <p:spPr>
          <a:xfrm>
            <a:off x="1028700" y="267004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5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1554480" y="26700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570" dirty="0"/>
          </a:p>
        </p:txBody>
      </p:sp>
      <p:sp>
        <p:nvSpPr>
          <p:cNvPr id="28" name="Shape 26"/>
          <p:cNvSpPr/>
          <p:nvPr/>
        </p:nvSpPr>
        <p:spPr>
          <a:xfrm>
            <a:off x="3593396" y="268909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9" name="Text 27"/>
          <p:cNvSpPr/>
          <p:nvPr/>
        </p:nvSpPr>
        <p:spPr>
          <a:xfrm>
            <a:off x="1028700" y="280416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6</a:t>
            </a:r>
            <a:endParaRPr lang="en-US" sz="630" dirty="0"/>
          </a:p>
        </p:txBody>
      </p:sp>
      <p:sp>
        <p:nvSpPr>
          <p:cNvPr id="30" name="Text 28"/>
          <p:cNvSpPr/>
          <p:nvPr/>
        </p:nvSpPr>
        <p:spPr>
          <a:xfrm>
            <a:off x="1554480" y="280416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31" name="Shape 29"/>
          <p:cNvSpPr/>
          <p:nvPr/>
        </p:nvSpPr>
        <p:spPr>
          <a:xfrm>
            <a:off x="3758824" y="282321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2" name="Text 30"/>
          <p:cNvSpPr/>
          <p:nvPr/>
        </p:nvSpPr>
        <p:spPr>
          <a:xfrm>
            <a:off x="1028700" y="293827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7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1554480" y="293827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34" name="Shape 32"/>
          <p:cNvSpPr/>
          <p:nvPr/>
        </p:nvSpPr>
        <p:spPr>
          <a:xfrm>
            <a:off x="5682337" y="2957322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35" name="Text 33"/>
          <p:cNvSpPr/>
          <p:nvPr/>
        </p:nvSpPr>
        <p:spPr>
          <a:xfrm>
            <a:off x="1028700" y="307238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8</a:t>
            </a:r>
            <a:endParaRPr lang="en-US" sz="630" dirty="0"/>
          </a:p>
        </p:txBody>
      </p:sp>
      <p:sp>
        <p:nvSpPr>
          <p:cNvPr id="36" name="Text 34"/>
          <p:cNvSpPr/>
          <p:nvPr/>
        </p:nvSpPr>
        <p:spPr>
          <a:xfrm>
            <a:off x="1554480" y="307238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37" name="Shape 35"/>
          <p:cNvSpPr/>
          <p:nvPr/>
        </p:nvSpPr>
        <p:spPr>
          <a:xfrm>
            <a:off x="3804981" y="309143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8" name="Text 36"/>
          <p:cNvSpPr/>
          <p:nvPr/>
        </p:nvSpPr>
        <p:spPr>
          <a:xfrm>
            <a:off x="1028700" y="320649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9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554480" y="320649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40" name="Shape 38"/>
          <p:cNvSpPr/>
          <p:nvPr/>
        </p:nvSpPr>
        <p:spPr>
          <a:xfrm>
            <a:off x="3918188" y="322554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1" name="Text 39"/>
          <p:cNvSpPr/>
          <p:nvPr/>
        </p:nvSpPr>
        <p:spPr>
          <a:xfrm>
            <a:off x="1028700" y="334060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10</a:t>
            </a:r>
            <a:endParaRPr lang="en-US" sz="630" dirty="0"/>
          </a:p>
        </p:txBody>
      </p:sp>
      <p:sp>
        <p:nvSpPr>
          <p:cNvPr id="42" name="Text 40"/>
          <p:cNvSpPr/>
          <p:nvPr/>
        </p:nvSpPr>
        <p:spPr>
          <a:xfrm>
            <a:off x="1554480" y="334060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</a:t>
            </a:r>
            <a:endParaRPr lang="en-US" sz="570" dirty="0"/>
          </a:p>
        </p:txBody>
      </p:sp>
      <p:sp>
        <p:nvSpPr>
          <p:cNvPr id="43" name="Shape 41"/>
          <p:cNvSpPr/>
          <p:nvPr/>
        </p:nvSpPr>
        <p:spPr>
          <a:xfrm>
            <a:off x="3380559" y="335965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4" name="Text 42"/>
          <p:cNvSpPr/>
          <p:nvPr/>
        </p:nvSpPr>
        <p:spPr>
          <a:xfrm>
            <a:off x="1028700" y="347472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11</a:t>
            </a:r>
            <a:endParaRPr lang="en-US" sz="630" dirty="0"/>
          </a:p>
        </p:txBody>
      </p:sp>
      <p:sp>
        <p:nvSpPr>
          <p:cNvPr id="45" name="Text 43"/>
          <p:cNvSpPr/>
          <p:nvPr/>
        </p:nvSpPr>
        <p:spPr>
          <a:xfrm>
            <a:off x="1554480" y="347472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46" name="Shape 44"/>
          <p:cNvSpPr/>
          <p:nvPr/>
        </p:nvSpPr>
        <p:spPr>
          <a:xfrm>
            <a:off x="3628717" y="349377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7" name="Text 45"/>
          <p:cNvSpPr/>
          <p:nvPr/>
        </p:nvSpPr>
        <p:spPr>
          <a:xfrm>
            <a:off x="1028700" y="360883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12</a:t>
            </a:r>
            <a:endParaRPr lang="en-US" sz="630" dirty="0"/>
          </a:p>
        </p:txBody>
      </p:sp>
      <p:sp>
        <p:nvSpPr>
          <p:cNvPr id="48" name="Text 46"/>
          <p:cNvSpPr/>
          <p:nvPr/>
        </p:nvSpPr>
        <p:spPr>
          <a:xfrm>
            <a:off x="1554480" y="360883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570" dirty="0"/>
          </a:p>
        </p:txBody>
      </p:sp>
      <p:sp>
        <p:nvSpPr>
          <p:cNvPr id="49" name="Shape 47"/>
          <p:cNvSpPr/>
          <p:nvPr/>
        </p:nvSpPr>
        <p:spPr>
          <a:xfrm>
            <a:off x="3925987" y="362788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0" name="Text 48"/>
          <p:cNvSpPr/>
          <p:nvPr/>
        </p:nvSpPr>
        <p:spPr>
          <a:xfrm>
            <a:off x="1028700" y="374294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13</a:t>
            </a:r>
            <a:endParaRPr lang="en-US" sz="630" dirty="0"/>
          </a:p>
        </p:txBody>
      </p:sp>
      <p:sp>
        <p:nvSpPr>
          <p:cNvPr id="51" name="Text 49"/>
          <p:cNvSpPr/>
          <p:nvPr/>
        </p:nvSpPr>
        <p:spPr>
          <a:xfrm>
            <a:off x="1554480" y="374294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52" name="Shape 50"/>
          <p:cNvSpPr/>
          <p:nvPr/>
        </p:nvSpPr>
        <p:spPr>
          <a:xfrm>
            <a:off x="3861880" y="376199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3" name="Text 51"/>
          <p:cNvSpPr/>
          <p:nvPr/>
        </p:nvSpPr>
        <p:spPr>
          <a:xfrm>
            <a:off x="1028700" y="387705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14</a:t>
            </a:r>
            <a:endParaRPr lang="en-US" sz="630" dirty="0"/>
          </a:p>
        </p:txBody>
      </p:sp>
      <p:sp>
        <p:nvSpPr>
          <p:cNvPr id="54" name="Text 52"/>
          <p:cNvSpPr/>
          <p:nvPr/>
        </p:nvSpPr>
        <p:spPr>
          <a:xfrm>
            <a:off x="1554480" y="387705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55" name="Shape 53"/>
          <p:cNvSpPr/>
          <p:nvPr/>
        </p:nvSpPr>
        <p:spPr>
          <a:xfrm>
            <a:off x="5705278" y="3896106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56" name="Text 54"/>
          <p:cNvSpPr/>
          <p:nvPr/>
        </p:nvSpPr>
        <p:spPr>
          <a:xfrm>
            <a:off x="1028700" y="401116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15</a:t>
            </a:r>
            <a:endParaRPr lang="en-US" sz="630" dirty="0"/>
          </a:p>
        </p:txBody>
      </p:sp>
      <p:sp>
        <p:nvSpPr>
          <p:cNvPr id="57" name="Text 55"/>
          <p:cNvSpPr/>
          <p:nvPr/>
        </p:nvSpPr>
        <p:spPr>
          <a:xfrm>
            <a:off x="1554480" y="4011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58" name="Shape 56"/>
          <p:cNvSpPr/>
          <p:nvPr/>
        </p:nvSpPr>
        <p:spPr>
          <a:xfrm>
            <a:off x="3603948" y="403021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9" name="Text 57"/>
          <p:cNvSpPr/>
          <p:nvPr/>
        </p:nvSpPr>
        <p:spPr>
          <a:xfrm>
            <a:off x="1028700" y="414528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16</a:t>
            </a:r>
            <a:endParaRPr lang="en-US" sz="630" dirty="0"/>
          </a:p>
        </p:txBody>
      </p:sp>
      <p:sp>
        <p:nvSpPr>
          <p:cNvPr id="60" name="Text 58"/>
          <p:cNvSpPr/>
          <p:nvPr/>
        </p:nvSpPr>
        <p:spPr>
          <a:xfrm>
            <a:off x="1554480" y="414528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61" name="Shape 59"/>
          <p:cNvSpPr/>
          <p:nvPr/>
        </p:nvSpPr>
        <p:spPr>
          <a:xfrm>
            <a:off x="3746662" y="416433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2" name="Text 60"/>
          <p:cNvSpPr/>
          <p:nvPr/>
        </p:nvSpPr>
        <p:spPr>
          <a:xfrm>
            <a:off x="1028700" y="427939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17</a:t>
            </a:r>
            <a:endParaRPr lang="en-US" sz="630" dirty="0"/>
          </a:p>
        </p:txBody>
      </p:sp>
      <p:sp>
        <p:nvSpPr>
          <p:cNvPr id="63" name="Text 61"/>
          <p:cNvSpPr/>
          <p:nvPr/>
        </p:nvSpPr>
        <p:spPr>
          <a:xfrm>
            <a:off x="1554480" y="427939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</a:t>
            </a:r>
            <a:endParaRPr lang="en-US" sz="570" dirty="0"/>
          </a:p>
        </p:txBody>
      </p:sp>
      <p:sp>
        <p:nvSpPr>
          <p:cNvPr id="64" name="Shape 62"/>
          <p:cNvSpPr/>
          <p:nvPr/>
        </p:nvSpPr>
        <p:spPr>
          <a:xfrm>
            <a:off x="3834075" y="429844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5" name="Text 63"/>
          <p:cNvSpPr/>
          <p:nvPr/>
        </p:nvSpPr>
        <p:spPr>
          <a:xfrm>
            <a:off x="1028700" y="441350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18</a:t>
            </a:r>
            <a:endParaRPr lang="en-US" sz="630" dirty="0"/>
          </a:p>
        </p:txBody>
      </p:sp>
      <p:sp>
        <p:nvSpPr>
          <p:cNvPr id="66" name="Text 64"/>
          <p:cNvSpPr/>
          <p:nvPr/>
        </p:nvSpPr>
        <p:spPr>
          <a:xfrm>
            <a:off x="1554480" y="441350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67" name="Shape 65"/>
          <p:cNvSpPr/>
          <p:nvPr/>
        </p:nvSpPr>
        <p:spPr>
          <a:xfrm>
            <a:off x="3798339" y="443255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8" name="Text 66"/>
          <p:cNvSpPr/>
          <p:nvPr/>
        </p:nvSpPr>
        <p:spPr>
          <a:xfrm>
            <a:off x="1028700" y="454761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19</a:t>
            </a:r>
            <a:endParaRPr lang="en-US" sz="630" dirty="0"/>
          </a:p>
        </p:txBody>
      </p:sp>
      <p:sp>
        <p:nvSpPr>
          <p:cNvPr id="69" name="Text 67"/>
          <p:cNvSpPr/>
          <p:nvPr/>
        </p:nvSpPr>
        <p:spPr>
          <a:xfrm>
            <a:off x="1554480" y="454761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570" dirty="0"/>
          </a:p>
        </p:txBody>
      </p:sp>
      <p:sp>
        <p:nvSpPr>
          <p:cNvPr id="70" name="Shape 68"/>
          <p:cNvSpPr/>
          <p:nvPr/>
        </p:nvSpPr>
        <p:spPr>
          <a:xfrm>
            <a:off x="3512994" y="456666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1" name="Text 69"/>
          <p:cNvSpPr/>
          <p:nvPr/>
        </p:nvSpPr>
        <p:spPr>
          <a:xfrm>
            <a:off x="1028700" y="468172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20</a:t>
            </a:r>
            <a:endParaRPr lang="en-US" sz="630" dirty="0"/>
          </a:p>
        </p:txBody>
      </p:sp>
      <p:sp>
        <p:nvSpPr>
          <p:cNvPr id="72" name="Text 70"/>
          <p:cNvSpPr/>
          <p:nvPr/>
        </p:nvSpPr>
        <p:spPr>
          <a:xfrm>
            <a:off x="1554480" y="468172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73" name="Shape 71"/>
          <p:cNvSpPr/>
          <p:nvPr/>
        </p:nvSpPr>
        <p:spPr>
          <a:xfrm>
            <a:off x="3732578" y="470077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" y="481584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21</a:t>
            </a:r>
            <a:endParaRPr lang="en-US" sz="630" dirty="0"/>
          </a:p>
        </p:txBody>
      </p:sp>
      <p:sp>
        <p:nvSpPr>
          <p:cNvPr id="75" name="Text 73"/>
          <p:cNvSpPr/>
          <p:nvPr/>
        </p:nvSpPr>
        <p:spPr>
          <a:xfrm>
            <a:off x="1554480" y="481584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76" name="Shape 74"/>
          <p:cNvSpPr/>
          <p:nvPr/>
        </p:nvSpPr>
        <p:spPr>
          <a:xfrm>
            <a:off x="6065518" y="4834890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77" name="Text 75"/>
          <p:cNvSpPr/>
          <p:nvPr/>
        </p:nvSpPr>
        <p:spPr>
          <a:xfrm>
            <a:off x="1028700" y="494995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22</a:t>
            </a:r>
            <a:endParaRPr lang="en-US" sz="630" dirty="0"/>
          </a:p>
        </p:txBody>
      </p:sp>
      <p:sp>
        <p:nvSpPr>
          <p:cNvPr id="78" name="Text 76"/>
          <p:cNvSpPr/>
          <p:nvPr/>
        </p:nvSpPr>
        <p:spPr>
          <a:xfrm>
            <a:off x="1554480" y="494995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79" name="Shape 77"/>
          <p:cNvSpPr/>
          <p:nvPr/>
        </p:nvSpPr>
        <p:spPr>
          <a:xfrm>
            <a:off x="3535269" y="496900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0" name="Text 78"/>
          <p:cNvSpPr/>
          <p:nvPr/>
        </p:nvSpPr>
        <p:spPr>
          <a:xfrm>
            <a:off x="1028700" y="508406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23</a:t>
            </a:r>
            <a:endParaRPr lang="en-US" sz="630" dirty="0"/>
          </a:p>
        </p:txBody>
      </p:sp>
      <p:sp>
        <p:nvSpPr>
          <p:cNvPr id="81" name="Text 79"/>
          <p:cNvSpPr/>
          <p:nvPr/>
        </p:nvSpPr>
        <p:spPr>
          <a:xfrm>
            <a:off x="1554480" y="508406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82" name="Shape 80"/>
          <p:cNvSpPr/>
          <p:nvPr/>
        </p:nvSpPr>
        <p:spPr>
          <a:xfrm>
            <a:off x="3789735" y="510311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3" name="Text 81"/>
          <p:cNvSpPr/>
          <p:nvPr/>
        </p:nvSpPr>
        <p:spPr>
          <a:xfrm>
            <a:off x="1028700" y="521817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24</a:t>
            </a:r>
            <a:endParaRPr lang="en-US" sz="630" dirty="0"/>
          </a:p>
        </p:txBody>
      </p:sp>
      <p:sp>
        <p:nvSpPr>
          <p:cNvPr id="84" name="Text 82"/>
          <p:cNvSpPr/>
          <p:nvPr/>
        </p:nvSpPr>
        <p:spPr>
          <a:xfrm>
            <a:off x="1554480" y="521817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</a:t>
            </a:r>
            <a:endParaRPr lang="en-US" sz="570" dirty="0"/>
          </a:p>
        </p:txBody>
      </p:sp>
      <p:sp>
        <p:nvSpPr>
          <p:cNvPr id="85" name="Shape 83"/>
          <p:cNvSpPr/>
          <p:nvPr/>
        </p:nvSpPr>
        <p:spPr>
          <a:xfrm>
            <a:off x="3526018" y="523722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6" name="Text 84"/>
          <p:cNvSpPr/>
          <p:nvPr/>
        </p:nvSpPr>
        <p:spPr>
          <a:xfrm>
            <a:off x="1028700" y="535228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25</a:t>
            </a:r>
            <a:endParaRPr lang="en-US" sz="630" dirty="0"/>
          </a:p>
        </p:txBody>
      </p:sp>
      <p:sp>
        <p:nvSpPr>
          <p:cNvPr id="87" name="Text 85"/>
          <p:cNvSpPr/>
          <p:nvPr/>
        </p:nvSpPr>
        <p:spPr>
          <a:xfrm>
            <a:off x="1554480" y="535228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88" name="Shape 86"/>
          <p:cNvSpPr/>
          <p:nvPr/>
        </p:nvSpPr>
        <p:spPr>
          <a:xfrm>
            <a:off x="3636727" y="537133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9" name="Text 87"/>
          <p:cNvSpPr/>
          <p:nvPr/>
        </p:nvSpPr>
        <p:spPr>
          <a:xfrm>
            <a:off x="1028700" y="548640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26</a:t>
            </a:r>
            <a:endParaRPr lang="en-US" sz="630" dirty="0"/>
          </a:p>
        </p:txBody>
      </p:sp>
      <p:sp>
        <p:nvSpPr>
          <p:cNvPr id="90" name="Text 88"/>
          <p:cNvSpPr/>
          <p:nvPr/>
        </p:nvSpPr>
        <p:spPr>
          <a:xfrm>
            <a:off x="1554480" y="548640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570" dirty="0"/>
          </a:p>
        </p:txBody>
      </p:sp>
      <p:sp>
        <p:nvSpPr>
          <p:cNvPr id="91" name="Shape 89"/>
          <p:cNvSpPr/>
          <p:nvPr/>
        </p:nvSpPr>
        <p:spPr>
          <a:xfrm>
            <a:off x="3540241" y="550545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92" name="Text 90"/>
          <p:cNvSpPr/>
          <p:nvPr/>
        </p:nvSpPr>
        <p:spPr>
          <a:xfrm>
            <a:off x="1028700" y="562051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27</a:t>
            </a:r>
            <a:endParaRPr lang="en-US" sz="630" dirty="0"/>
          </a:p>
        </p:txBody>
      </p:sp>
      <p:sp>
        <p:nvSpPr>
          <p:cNvPr id="93" name="Text 91"/>
          <p:cNvSpPr/>
          <p:nvPr/>
        </p:nvSpPr>
        <p:spPr>
          <a:xfrm>
            <a:off x="1554480" y="562051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94" name="Shape 92"/>
          <p:cNvSpPr/>
          <p:nvPr/>
        </p:nvSpPr>
        <p:spPr>
          <a:xfrm>
            <a:off x="3598510" y="563956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95" name="Text 93"/>
          <p:cNvSpPr/>
          <p:nvPr/>
        </p:nvSpPr>
        <p:spPr>
          <a:xfrm>
            <a:off x="1028700" y="575462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28</a:t>
            </a:r>
            <a:endParaRPr lang="en-US" sz="630" dirty="0"/>
          </a:p>
        </p:txBody>
      </p:sp>
      <p:sp>
        <p:nvSpPr>
          <p:cNvPr id="96" name="Text 94"/>
          <p:cNvSpPr/>
          <p:nvPr/>
        </p:nvSpPr>
        <p:spPr>
          <a:xfrm>
            <a:off x="1554480" y="575462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97" name="Shape 95"/>
          <p:cNvSpPr/>
          <p:nvPr/>
        </p:nvSpPr>
        <p:spPr>
          <a:xfrm>
            <a:off x="6028980" y="5773674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98" name="Text 96"/>
          <p:cNvSpPr/>
          <p:nvPr/>
        </p:nvSpPr>
        <p:spPr>
          <a:xfrm>
            <a:off x="1028700" y="588873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29</a:t>
            </a:r>
            <a:endParaRPr lang="en-US" sz="630" dirty="0"/>
          </a:p>
        </p:txBody>
      </p:sp>
      <p:sp>
        <p:nvSpPr>
          <p:cNvPr id="99" name="Text 97"/>
          <p:cNvSpPr/>
          <p:nvPr/>
        </p:nvSpPr>
        <p:spPr>
          <a:xfrm>
            <a:off x="1554480" y="588873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100" name="Shape 98"/>
          <p:cNvSpPr/>
          <p:nvPr/>
        </p:nvSpPr>
        <p:spPr>
          <a:xfrm>
            <a:off x="3760584" y="590778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01" name="Text 99"/>
          <p:cNvSpPr/>
          <p:nvPr/>
        </p:nvSpPr>
        <p:spPr>
          <a:xfrm>
            <a:off x="1028700" y="602284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30</a:t>
            </a:r>
            <a:endParaRPr lang="en-US" sz="630" dirty="0"/>
          </a:p>
        </p:txBody>
      </p:sp>
      <p:sp>
        <p:nvSpPr>
          <p:cNvPr id="102" name="Text 100"/>
          <p:cNvSpPr/>
          <p:nvPr/>
        </p:nvSpPr>
        <p:spPr>
          <a:xfrm>
            <a:off x="1554480" y="60228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103" name="Shape 101"/>
          <p:cNvSpPr/>
          <p:nvPr/>
        </p:nvSpPr>
        <p:spPr>
          <a:xfrm>
            <a:off x="3523942" y="604189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788229" y="2148840"/>
            <a:ext cx="0" cy="4130040"/>
          </a:xfrm>
          <a:prstGeom prst="line">
            <a:avLst/>
          </a:prstGeom>
          <a:noFill/>
          <a:ln w="17780">
            <a:solidFill>
              <a:srgbClr val="0A5A53"/>
            </a:solidFill>
            <a:prstDash val="sysDot"/>
          </a:ln>
        </p:spPr>
      </p:sp>
      <p:sp>
        <p:nvSpPr>
          <p:cNvPr id="105" name="Text 103"/>
          <p:cNvSpPr/>
          <p:nvPr/>
        </p:nvSpPr>
        <p:spPr>
          <a:xfrm>
            <a:off x="3407229" y="6324600"/>
            <a:ext cx="7620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A5A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6:45 AM</a:t>
            </a:r>
            <a:endParaRPr lang="en-US" sz="780" dirty="0"/>
          </a:p>
        </p:txBody>
      </p:sp>
      <p:sp>
        <p:nvSpPr>
          <p:cNvPr id="106" name="Text 104"/>
          <p:cNvSpPr/>
          <p:nvPr/>
        </p:nvSpPr>
        <p:spPr>
          <a:xfrm>
            <a:off x="8107680" y="213360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96</a:t>
            </a:r>
            <a:pPr indent="0" marL="0">
              <a:buNone/>
            </a:pPr>
            <a:r>
              <a:rPr lang="en-US" sz="2520" dirty="0">
                <a:solidFill>
                  <a:srgbClr val="8A81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%</a:t>
            </a:r>
            <a:endParaRPr lang="en-US" sz="5520" dirty="0"/>
          </a:p>
        </p:txBody>
      </p:sp>
      <p:sp>
        <p:nvSpPr>
          <p:cNvPr id="107" name="Text 105"/>
          <p:cNvSpPr/>
          <p:nvPr/>
        </p:nvSpPr>
        <p:spPr>
          <a:xfrm>
            <a:off x="8107680" y="304800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22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SURE ABOUT DADAJI'S BATH</a:t>
            </a:r>
            <a:endParaRPr lang="en-US" sz="720" dirty="0"/>
          </a:p>
        </p:txBody>
      </p:sp>
      <p:sp>
        <p:nvSpPr>
          <p:cNvPr id="108" name="Shape 106"/>
          <p:cNvSpPr/>
          <p:nvPr/>
        </p:nvSpPr>
        <p:spPr>
          <a:xfrm>
            <a:off x="8107680" y="3581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0E7C72"/>
          </a:solidFill>
          <a:ln/>
        </p:spPr>
      </p:sp>
      <p:sp>
        <p:nvSpPr>
          <p:cNvPr id="109" name="Text 107"/>
          <p:cNvSpPr/>
          <p:nvPr/>
        </p:nvSpPr>
        <p:spPr>
          <a:xfrm>
            <a:off x="8260080" y="3566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14 — 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she's sure now. Dadaji bathes at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6:45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every weekday.</a:t>
            </a:r>
            <a:endParaRPr lang="en-US" sz="1020" dirty="0"/>
          </a:p>
        </p:txBody>
      </p:sp>
      <p:sp>
        <p:nvSpPr>
          <p:cNvPr id="110" name="Shape 108"/>
          <p:cNvSpPr/>
          <p:nvPr/>
        </p:nvSpPr>
        <p:spPr>
          <a:xfrm>
            <a:off x="8107680" y="4343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C77414"/>
          </a:solidFill>
          <a:ln/>
        </p:spPr>
      </p:sp>
      <p:sp>
        <p:nvSpPr>
          <p:cNvPr id="111" name="Text 109"/>
          <p:cNvSpPr/>
          <p:nvPr/>
        </p:nvSpPr>
        <p:spPr>
          <a:xfrm>
            <a:off x="8260080" y="4328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Sundays?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Around 8.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She knows that too.</a:t>
            </a:r>
            <a:endParaRPr lang="en-US" sz="1020" dirty="0"/>
          </a:p>
        </p:txBody>
      </p:sp>
      <p:sp>
        <p:nvSpPr>
          <p:cNvPr id="112" name="Shape 110"/>
          <p:cNvSpPr/>
          <p:nvPr/>
        </p:nvSpPr>
        <p:spPr>
          <a:xfrm>
            <a:off x="8107680" y="5105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0E7C72"/>
          </a:solidFill>
          <a:ln/>
        </p:spPr>
      </p:sp>
      <p:sp>
        <p:nvSpPr>
          <p:cNvPr id="113" name="Text 111"/>
          <p:cNvSpPr/>
          <p:nvPr/>
        </p:nvSpPr>
        <p:spPr>
          <a:xfrm>
            <a:off x="8260080" y="5090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one told her. She just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watched the geyser.</a:t>
            </a:r>
            <a:endParaRPr lang="en-US" sz="1020" dirty="0"/>
          </a:p>
        </p:txBody>
      </p:sp>
      <p:sp>
        <p:nvSpPr>
          <p:cNvPr id="114" name="Text 112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9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4008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 NEED AS A CUSTOMER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296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Four things a family would </a:t>
            </a:r>
            <a:pPr indent="0" marL="0">
              <a:buNone/>
            </a:pPr>
            <a:r>
              <a:rPr lang="en-US" sz="372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actually ask for</a:t>
            </a:r>
            <a:pPr indent="0" marL="0">
              <a:buNone/>
            </a:pPr>
            <a:r>
              <a:rPr lang="en-US" sz="37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3720" dirty="0"/>
          </a:p>
        </p:txBody>
      </p:sp>
      <p:sp>
        <p:nvSpPr>
          <p:cNvPr id="4" name="Text 2"/>
          <p:cNvSpPr/>
          <p:nvPr/>
        </p:nvSpPr>
        <p:spPr>
          <a:xfrm>
            <a:off x="1066800" y="204216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It should already be ready.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”</a:t>
            </a:r>
            <a:endParaRPr lang="en-US" sz="1680" dirty="0"/>
          </a:p>
        </p:txBody>
      </p:sp>
      <p:sp>
        <p:nvSpPr>
          <p:cNvPr id="5" name="Text 3"/>
          <p:cNvSpPr/>
          <p:nvPr/>
        </p:nvSpPr>
        <p:spPr>
          <a:xfrm>
            <a:off x="5562600" y="202692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acts ahead of the routine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the geyser is hot before the 6:45 bath, the living room is cool before Rajesh walks in. Zero commands for the daily rhythm.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1066800" y="281940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6800" y="297180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It should understand my home.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”</a:t>
            </a:r>
            <a:endParaRPr lang="en-US" sz="1680" dirty="0"/>
          </a:p>
        </p:txBody>
      </p:sp>
      <p:sp>
        <p:nvSpPr>
          <p:cNvPr id="8" name="Text 6"/>
          <p:cNvSpPr/>
          <p:nvPr/>
        </p:nvSpPr>
        <p:spPr>
          <a:xfrm>
            <a:off x="5562600" y="295656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India-first context, not hardcoded rules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pooja mornings, tariff windows, power cuts, tuition hours all ride into the reasoning as context it actually weighs.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1066800" y="374904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6800" y="390144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It should never overreach.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”</a:t>
            </a:r>
            <a:endParaRPr lang="en-US" sz="1680" dirty="0"/>
          </a:p>
        </p:txBody>
      </p:sp>
      <p:sp>
        <p:nvSpPr>
          <p:cNvPr id="11" name="Text 9"/>
          <p:cNvSpPr/>
          <p:nvPr/>
        </p:nvSpPr>
        <p:spPr>
          <a:xfrm>
            <a:off x="5562600" y="388620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Autonomy is graduated and earned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five trust tiers per device category; one override immediately lowers what it may do on its own.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1066800" y="467868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6800" y="483108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It should explain itself.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”</a:t>
            </a:r>
            <a:endParaRPr lang="en-US" sz="1680" dirty="0"/>
          </a:p>
        </p:txBody>
      </p:sp>
      <p:sp>
        <p:nvSpPr>
          <p:cNvPr id="14" name="Text 12"/>
          <p:cNvSpPr/>
          <p:nvPr/>
        </p:nvSpPr>
        <p:spPr>
          <a:xfrm>
            <a:off x="5562600" y="481584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action ships with a plain-language reason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"pre-heating the geyser at 05:15, the family wakes around 06:00" — and a one-tap Override.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1066800" y="560832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9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63880"/>
            <a:ext cx="12191695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0" y="853440"/>
            <a:ext cx="1219169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One day in an </a:t>
            </a:r>
            <a:pPr algn="ctr" indent="0" marL="0">
              <a:buNone/>
            </a:pPr>
            <a:r>
              <a:rPr lang="en-US" sz="348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Indian home</a:t>
            </a:r>
            <a:pPr algn="ctr" indent="0" marL="0">
              <a:buNone/>
            </a:pPr>
            <a:r>
              <a:rPr lang="en-US" sz="34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3480" dirty="0"/>
          </a:p>
        </p:txBody>
      </p:sp>
      <p:sp>
        <p:nvSpPr>
          <p:cNvPr id="4" name="Shape 2"/>
          <p:cNvSpPr/>
          <p:nvPr/>
        </p:nvSpPr>
        <p:spPr>
          <a:xfrm>
            <a:off x="1333500" y="1905000"/>
            <a:ext cx="9525000" cy="4324111"/>
          </a:xfrm>
          <a:prstGeom prst="rect">
            <a:avLst/>
          </a:prstGeom>
          <a:solidFill>
            <a:srgbClr val="1D1A15"/>
          </a:solidFill>
          <a:ln/>
          <a:effectLst>
            <a:outerShdw sx="100000" sy="100000" kx="0" ky="0" algn="bl" rotWithShape="0" blurRad="279400" dist="76200" dir="5400000">
              <a:srgbClr val="3C301A">
                <a:alpha val="30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333500" y="1905000"/>
            <a:ext cx="9525000" cy="432411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9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4267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ARCHITECTURE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701040"/>
            <a:ext cx="10134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routine model that knows the house, an LLM that knows </a:t>
            </a:r>
            <a:pPr indent="0" marL="0">
              <a:buNone/>
            </a:pPr>
            <a:r>
              <a:rPr lang="en-US" sz="252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today</a:t>
            </a:r>
            <a:pPr indent="0" marL="0">
              <a:buNone/>
            </a:pPr>
            <a:r>
              <a:rPr lang="en-US" sz="25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2520" dirty="0"/>
          </a:p>
        </p:txBody>
      </p:sp>
      <p:sp>
        <p:nvSpPr>
          <p:cNvPr id="4" name="Text 2"/>
          <p:cNvSpPr/>
          <p:nvPr/>
        </p:nvSpPr>
        <p:spPr>
          <a:xfrm>
            <a:off x="1066800" y="1173480"/>
            <a:ext cx="10134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loop runs all day — </a:t>
            </a:r>
            <a:pPr indent="0" marL="0"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SENSE → THINK → ACT → EXPLAIN</a:t>
            </a:r>
            <a:pPr indent="0" marL="0"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slow-learned trends meeting today’s context in the reasoning core.</a:t>
            </a:r>
            <a:endParaRPr lang="en-US" sz="1020" dirty="0"/>
          </a:p>
        </p:txBody>
      </p:sp>
      <p:sp>
        <p:nvSpPr>
          <p:cNvPr id="5" name="Text 3"/>
          <p:cNvSpPr/>
          <p:nvPr/>
        </p:nvSpPr>
        <p:spPr>
          <a:xfrm>
            <a:off x="1066800" y="1600200"/>
            <a:ext cx="457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— THE DECISION PATH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1066800" y="1859280"/>
            <a:ext cx="18288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66800" y="1859280"/>
            <a:ext cx="18288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8" name="Text 6"/>
          <p:cNvSpPr/>
          <p:nvPr/>
        </p:nvSpPr>
        <p:spPr>
          <a:xfrm>
            <a:off x="1219200" y="1981200"/>
            <a:ext cx="1524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CAPTURE</a:t>
            </a:r>
            <a:endParaRPr lang="en-US" sz="690" dirty="0"/>
          </a:p>
        </p:txBody>
      </p:sp>
      <p:sp>
        <p:nvSpPr>
          <p:cNvPr id="9" name="Text 7"/>
          <p:cNvSpPr/>
          <p:nvPr/>
        </p:nvSpPr>
        <p:spPr>
          <a:xfrm>
            <a:off x="1219200" y="2148840"/>
            <a:ext cx="1569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Home events</a:t>
            </a:r>
            <a:endParaRPr lang="en-US" sz="960" dirty="0"/>
          </a:p>
        </p:txBody>
      </p:sp>
      <p:sp>
        <p:nvSpPr>
          <p:cNvPr id="10" name="Text 8"/>
          <p:cNvSpPr/>
          <p:nvPr/>
        </p:nvSpPr>
        <p:spPr>
          <a:xfrm>
            <a:off x="1219200" y="2377440"/>
            <a:ext cx="1569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left or arrived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lights &amp; appliances on/off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geyser · AC · motor usage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temperature &amp; occupancy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 interactions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3352800" y="1996440"/>
            <a:ext cx="1409700" cy="1021080"/>
          </a:xfrm>
          <a:prstGeom prst="roundRect">
            <a:avLst>
              <a:gd name="adj" fmla="val 1074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52800" y="1996440"/>
            <a:ext cx="14097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13" name="Text 11"/>
          <p:cNvSpPr/>
          <p:nvPr/>
        </p:nvSpPr>
        <p:spPr>
          <a:xfrm>
            <a:off x="3505200" y="2118360"/>
            <a:ext cx="1104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INGEST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3505200" y="2286000"/>
            <a:ext cx="11506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stream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3505200" y="2514600"/>
            <a:ext cx="11506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validate &amp; de-duplicate,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enrich with device,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member, room, time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5219700" y="1996440"/>
            <a:ext cx="1447800" cy="1021080"/>
          </a:xfrm>
          <a:prstGeom prst="roundRect">
            <a:avLst>
              <a:gd name="adj" fmla="val 1074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19700" y="1996440"/>
            <a:ext cx="14478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18" name="Text 16"/>
          <p:cNvSpPr/>
          <p:nvPr/>
        </p:nvSpPr>
        <p:spPr>
          <a:xfrm>
            <a:off x="5372100" y="211836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STORE</a:t>
            </a:r>
            <a:endParaRPr lang="en-US" sz="690" dirty="0"/>
          </a:p>
        </p:txBody>
      </p:sp>
      <p:sp>
        <p:nvSpPr>
          <p:cNvPr id="19" name="Text 17"/>
          <p:cNvSpPr/>
          <p:nvPr/>
        </p:nvSpPr>
        <p:spPr>
          <a:xfrm>
            <a:off x="5372100" y="2286000"/>
            <a:ext cx="1188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Time-series DB</a:t>
            </a:r>
            <a:endParaRPr lang="en-US" sz="960" dirty="0"/>
          </a:p>
        </p:txBody>
      </p:sp>
      <p:sp>
        <p:nvSpPr>
          <p:cNvPr id="20" name="Text 18"/>
          <p:cNvSpPr/>
          <p:nvPr/>
        </p:nvSpPr>
        <p:spPr>
          <a:xfrm>
            <a:off x="5372100" y="25146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event log —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months of the home's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history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7124700" y="1859280"/>
            <a:ext cx="20193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124700" y="1859280"/>
            <a:ext cx="2019300" cy="53340"/>
          </a:xfrm>
          <a:prstGeom prst="roundRect">
            <a:avLst>
              <a:gd name="adj" fmla="val 34286"/>
            </a:avLst>
          </a:prstGeom>
          <a:solidFill>
            <a:srgbClr val="7A4FB3"/>
          </a:solidFill>
          <a:ln/>
        </p:spPr>
      </p:sp>
      <p:sp>
        <p:nvSpPr>
          <p:cNvPr id="23" name="Text 21"/>
          <p:cNvSpPr/>
          <p:nvPr/>
        </p:nvSpPr>
        <p:spPr>
          <a:xfrm>
            <a:off x="7277100" y="198120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7A4FB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REASONING CORE</a:t>
            </a:r>
            <a:endParaRPr lang="en-US" sz="690" dirty="0"/>
          </a:p>
        </p:txBody>
      </p:sp>
      <p:sp>
        <p:nvSpPr>
          <p:cNvPr id="24" name="Text 22"/>
          <p:cNvSpPr/>
          <p:nvPr/>
        </p:nvSpPr>
        <p:spPr>
          <a:xfrm>
            <a:off x="7277100" y="214884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Amazon Bedrock — Claude</a:t>
            </a:r>
            <a:endParaRPr lang="en-US" sz="960" dirty="0"/>
          </a:p>
        </p:txBody>
      </p:sp>
      <p:sp>
        <p:nvSpPr>
          <p:cNvPr id="25" name="Text 23"/>
          <p:cNvSpPr/>
          <p:nvPr/>
        </p:nvSpPr>
        <p:spPr>
          <a:xfrm>
            <a:off x="7277100" y="2377440"/>
            <a:ext cx="17602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learned patterns + today's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→ "what should the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home do next, and why" —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Alexa+ pattern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9601200" y="1859280"/>
            <a:ext cx="15240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601200" y="1859280"/>
            <a:ext cx="1524000" cy="53340"/>
          </a:xfrm>
          <a:prstGeom prst="roundRect">
            <a:avLst>
              <a:gd name="adj" fmla="val 34286"/>
            </a:avLst>
          </a:prstGeom>
          <a:solidFill>
            <a:srgbClr val="221E17"/>
          </a:solidFill>
          <a:ln/>
        </p:spPr>
      </p:sp>
      <p:sp>
        <p:nvSpPr>
          <p:cNvPr id="28" name="Text 26"/>
          <p:cNvSpPr/>
          <p:nvPr/>
        </p:nvSpPr>
        <p:spPr>
          <a:xfrm>
            <a:off x="9753600" y="1981200"/>
            <a:ext cx="1219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TRUST GATE</a:t>
            </a:r>
            <a:endParaRPr lang="en-US" sz="690" dirty="0"/>
          </a:p>
        </p:txBody>
      </p:sp>
      <p:sp>
        <p:nvSpPr>
          <p:cNvPr id="29" name="Text 27"/>
          <p:cNvSpPr/>
          <p:nvPr/>
        </p:nvSpPr>
        <p:spPr>
          <a:xfrm>
            <a:off x="9753600" y="214884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Safety &amp; permissions</a:t>
            </a:r>
            <a:endParaRPr lang="en-US" sz="960" dirty="0"/>
          </a:p>
        </p:txBody>
      </p:sp>
      <p:sp>
        <p:nvSpPr>
          <p:cNvPr id="30" name="Text 28"/>
          <p:cNvSpPr/>
          <p:nvPr/>
        </p:nvSpPr>
        <p:spPr>
          <a:xfrm>
            <a:off x="9753600" y="2377440"/>
            <a:ext cx="126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confidence score ×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earned trust tier →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 · suggest ·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stay silent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895600" y="25146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762500" y="25146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667500" y="23622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416040" y="192024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0A5A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recent</a:t>
            </a:r>
            <a:endParaRPr lang="en-US" sz="7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0A5A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9144000" y="22860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8892540" y="188976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 +</a:t>
            </a:r>
            <a:endParaRPr lang="en-US" sz="7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reason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10363200" y="3154680"/>
            <a:ext cx="0" cy="45720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601200" y="3657600"/>
            <a:ext cx="1524000" cy="762000"/>
          </a:xfrm>
          <a:prstGeom prst="roundRect">
            <a:avLst>
              <a:gd name="adj" fmla="val 144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601200" y="3657600"/>
            <a:ext cx="15240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40" name="Text 38"/>
          <p:cNvSpPr/>
          <p:nvPr/>
        </p:nvSpPr>
        <p:spPr>
          <a:xfrm>
            <a:off x="9753600" y="3779520"/>
            <a:ext cx="1219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· ALEXA ACTS</a:t>
            </a:r>
            <a:endParaRPr lang="en-US" sz="690" dirty="0"/>
          </a:p>
        </p:txBody>
      </p:sp>
      <p:sp>
        <p:nvSpPr>
          <p:cNvPr id="41" name="Text 39"/>
          <p:cNvSpPr/>
          <p:nvPr/>
        </p:nvSpPr>
        <p:spPr>
          <a:xfrm>
            <a:off x="9753600" y="394716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Takes action</a:t>
            </a:r>
            <a:endParaRPr lang="en-US" sz="960" dirty="0"/>
          </a:p>
        </p:txBody>
      </p:sp>
      <p:sp>
        <p:nvSpPr>
          <p:cNvPr id="42" name="Text 40"/>
          <p:cNvSpPr/>
          <p:nvPr/>
        </p:nvSpPr>
        <p:spPr>
          <a:xfrm>
            <a:off x="9753600" y="417576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geyser, AC, lights, locks,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announcements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7124700" y="3657600"/>
            <a:ext cx="2019300" cy="762000"/>
          </a:xfrm>
          <a:prstGeom prst="roundRect">
            <a:avLst>
              <a:gd name="adj" fmla="val 144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124700" y="3657600"/>
            <a:ext cx="20193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45" name="Text 43"/>
          <p:cNvSpPr/>
          <p:nvPr/>
        </p:nvSpPr>
        <p:spPr>
          <a:xfrm>
            <a:off x="7277100" y="377952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</a:t>
            </a:r>
            <a:endParaRPr lang="en-US" sz="690" dirty="0"/>
          </a:p>
        </p:txBody>
      </p:sp>
      <p:sp>
        <p:nvSpPr>
          <p:cNvPr id="46" name="Text 44"/>
          <p:cNvSpPr/>
          <p:nvPr/>
        </p:nvSpPr>
        <p:spPr>
          <a:xfrm>
            <a:off x="7277100" y="394716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context</a:t>
            </a:r>
            <a:endParaRPr lang="en-US" sz="960" dirty="0"/>
          </a:p>
        </p:txBody>
      </p:sp>
      <p:sp>
        <p:nvSpPr>
          <p:cNvPr id="47" name="Text 45"/>
          <p:cNvSpPr/>
          <p:nvPr/>
        </p:nvSpPr>
        <p:spPr>
          <a:xfrm>
            <a:off x="7277100" y="417576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occupancy · festival or special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· tariff window · weather</a:t>
            </a:r>
            <a:endParaRPr lang="en-US" sz="780" dirty="0"/>
          </a:p>
        </p:txBody>
      </p:sp>
      <p:sp>
        <p:nvSpPr>
          <p:cNvPr id="48" name="Shape 46"/>
          <p:cNvSpPr/>
          <p:nvPr/>
        </p:nvSpPr>
        <p:spPr>
          <a:xfrm flipV="1">
            <a:off x="8130540" y="3200400"/>
            <a:ext cx="0" cy="45720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5029200" y="4678680"/>
            <a:ext cx="457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OFFLINE — LEARNING THE RHYTHM, NIGHTLY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352800" y="4907280"/>
            <a:ext cx="1409700" cy="1066800"/>
          </a:xfrm>
          <a:prstGeom prst="roundRect">
            <a:avLst>
              <a:gd name="adj" fmla="val 1028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352800" y="4907280"/>
            <a:ext cx="14097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52" name="Text 50"/>
          <p:cNvSpPr/>
          <p:nvPr/>
        </p:nvSpPr>
        <p:spPr>
          <a:xfrm>
            <a:off x="3505200" y="5029200"/>
            <a:ext cx="1104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PROCESS</a:t>
            </a:r>
            <a:endParaRPr lang="en-US" sz="690" dirty="0"/>
          </a:p>
        </p:txBody>
      </p:sp>
      <p:sp>
        <p:nvSpPr>
          <p:cNvPr id="53" name="Text 51"/>
          <p:cNvSpPr/>
          <p:nvPr/>
        </p:nvSpPr>
        <p:spPr>
          <a:xfrm>
            <a:off x="3505200" y="5196840"/>
            <a:ext cx="11506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pipeline</a:t>
            </a:r>
            <a:endParaRPr lang="en-US" sz="960" dirty="0"/>
          </a:p>
        </p:txBody>
      </p:sp>
      <p:sp>
        <p:nvSpPr>
          <p:cNvPr id="54" name="Text 52"/>
          <p:cNvSpPr/>
          <p:nvPr/>
        </p:nvSpPr>
        <p:spPr>
          <a:xfrm>
            <a:off x="3505200" y="5425440"/>
            <a:ext cx="11506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 &amp; sessionize by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window; features: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time, season, occupancy</a:t>
            </a:r>
            <a:endParaRPr lang="en-US" sz="780" dirty="0"/>
          </a:p>
        </p:txBody>
      </p:sp>
      <p:sp>
        <p:nvSpPr>
          <p:cNvPr id="55" name="Shape 53"/>
          <p:cNvSpPr/>
          <p:nvPr/>
        </p:nvSpPr>
        <p:spPr>
          <a:xfrm>
            <a:off x="5219700" y="4907280"/>
            <a:ext cx="1447800" cy="1066800"/>
          </a:xfrm>
          <a:prstGeom prst="roundRect">
            <a:avLst>
              <a:gd name="adj" fmla="val 1028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5219700" y="4907280"/>
            <a:ext cx="14478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57" name="Text 55"/>
          <p:cNvSpPr/>
          <p:nvPr/>
        </p:nvSpPr>
        <p:spPr>
          <a:xfrm>
            <a:off x="5372100" y="502920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TRAIN</a:t>
            </a:r>
            <a:endParaRPr lang="en-US" sz="690" dirty="0"/>
          </a:p>
        </p:txBody>
      </p:sp>
      <p:sp>
        <p:nvSpPr>
          <p:cNvPr id="58" name="Text 56"/>
          <p:cNvSpPr/>
          <p:nvPr/>
        </p:nvSpPr>
        <p:spPr>
          <a:xfrm>
            <a:off x="5372100" y="5196840"/>
            <a:ext cx="1188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Routine model — DNN</a:t>
            </a:r>
            <a:endParaRPr lang="en-US" sz="960" dirty="0"/>
          </a:p>
        </p:txBody>
      </p:sp>
      <p:sp>
        <p:nvSpPr>
          <p:cNvPr id="59" name="Text 57"/>
          <p:cNvSpPr/>
          <p:nvPr/>
        </p:nvSpPr>
        <p:spPr>
          <a:xfrm>
            <a:off x="5372100" y="54254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sequence model over the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series (LSTM /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Transformer)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5638800" y="3017520"/>
            <a:ext cx="0" cy="160020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H="1">
            <a:off x="4084320" y="4617720"/>
            <a:ext cx="15544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084320" y="4617720"/>
            <a:ext cx="0" cy="24384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3" name="Text 61"/>
          <p:cNvSpPr/>
          <p:nvPr/>
        </p:nvSpPr>
        <p:spPr>
          <a:xfrm>
            <a:off x="5715000" y="3733800"/>
            <a:ext cx="1219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historical data</a:t>
            </a:r>
            <a:endParaRPr lang="en-US" sz="7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(months)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4762500" y="5440680"/>
            <a:ext cx="4114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6667500" y="5440680"/>
            <a:ext cx="270510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372600" y="2819400"/>
            <a:ext cx="0" cy="262128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H="1">
            <a:off x="9189720" y="2819400"/>
            <a:ext cx="1828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8" name="Text 66"/>
          <p:cNvSpPr/>
          <p:nvPr/>
        </p:nvSpPr>
        <p:spPr>
          <a:xfrm>
            <a:off x="6652260" y="5212080"/>
            <a:ext cx="2743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learned patterns — P(event x at time t)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10363200" y="4419600"/>
            <a:ext cx="0" cy="173736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 flipH="1">
            <a:off x="1295400" y="6156960"/>
            <a:ext cx="9067800" cy="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V="1">
            <a:off x="1295400" y="3185160"/>
            <a:ext cx="0" cy="297180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  <a:tailEnd type="triangle"/>
          </a:ln>
        </p:spPr>
      </p:sp>
      <p:sp>
        <p:nvSpPr>
          <p:cNvPr id="72" name="Text 70"/>
          <p:cNvSpPr/>
          <p:nvPr/>
        </p:nvSpPr>
        <p:spPr>
          <a:xfrm>
            <a:off x="2514600" y="621792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 — accepted or overridden → trust rises or falls · every action becomes tomorrow's training data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1600200" y="4968240"/>
            <a:ext cx="32004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996440" y="489966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decision path</a:t>
            </a:r>
            <a:endParaRPr lang="en-US" sz="780" dirty="0"/>
          </a:p>
        </p:txBody>
      </p:sp>
      <p:sp>
        <p:nvSpPr>
          <p:cNvPr id="75" name="Shape 73"/>
          <p:cNvSpPr/>
          <p:nvPr/>
        </p:nvSpPr>
        <p:spPr>
          <a:xfrm>
            <a:off x="1600200" y="5166360"/>
            <a:ext cx="32004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96440" y="509778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offline learning path</a:t>
            </a:r>
            <a:endParaRPr lang="en-US" sz="780" dirty="0"/>
          </a:p>
        </p:txBody>
      </p:sp>
      <p:sp>
        <p:nvSpPr>
          <p:cNvPr id="77" name="Shape 75"/>
          <p:cNvSpPr/>
          <p:nvPr/>
        </p:nvSpPr>
        <p:spPr>
          <a:xfrm>
            <a:off x="1600200" y="5364480"/>
            <a:ext cx="320040" cy="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8" name="Text 76"/>
          <p:cNvSpPr/>
          <p:nvPr/>
        </p:nvSpPr>
        <p:spPr>
          <a:xfrm>
            <a:off x="1996440" y="529590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loop</a:t>
            </a:r>
            <a:endParaRPr lang="en-US" sz="780" dirty="0"/>
          </a:p>
        </p:txBody>
      </p:sp>
      <p:sp>
        <p:nvSpPr>
          <p:cNvPr id="79" name="Text 77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9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&amp; FUTURE VISION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7536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Built for the </a:t>
            </a:r>
            <a:pPr indent="0" marL="0">
              <a:buNone/>
            </a:pPr>
            <a:r>
              <a:rPr lang="en-US" sz="384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next billion</a:t>
            </a:r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homes.</a:t>
            </a:r>
            <a:endParaRPr lang="en-US" sz="3840" dirty="0"/>
          </a:p>
        </p:txBody>
      </p:sp>
      <p:sp>
        <p:nvSpPr>
          <p:cNvPr id="4" name="Text 2"/>
          <p:cNvSpPr/>
          <p:nvPr/>
        </p:nvSpPr>
        <p:spPr>
          <a:xfrm>
            <a:off x="1066800" y="1798320"/>
            <a:ext cx="472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For the Sharma family</a:t>
            </a:r>
            <a:endParaRPr lang="en-US" sz="1440" dirty="0"/>
          </a:p>
        </p:txBody>
      </p:sp>
      <p:sp>
        <p:nvSpPr>
          <p:cNvPr id="5" name="Text 3"/>
          <p:cNvSpPr/>
          <p:nvPr/>
        </p:nvSpPr>
        <p:spPr>
          <a:xfrm>
            <a:off x="6324600" y="1798320"/>
            <a:ext cx="472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Why it scales</a:t>
            </a:r>
            <a:endParaRPr lang="en-US" sz="1440" dirty="0"/>
          </a:p>
        </p:txBody>
      </p:sp>
      <p:sp>
        <p:nvSpPr>
          <p:cNvPr id="6" name="Text 4"/>
          <p:cNvSpPr/>
          <p:nvPr/>
        </p:nvSpPr>
        <p:spPr>
          <a:xfrm>
            <a:off x="1066800" y="220980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morning runs itself.</a:t>
            </a:r>
            <a:pPr indent="0" marL="0">
              <a:lnSpc>
                <a:spcPct val="130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Hot water at bath time, the motor off before the tank overflows, doors locked behind the last person out — nobody says a word.</a:t>
            </a:r>
            <a:endParaRPr lang="en-US" sz="1020" dirty="0"/>
          </a:p>
        </p:txBody>
      </p:sp>
      <p:sp>
        <p:nvSpPr>
          <p:cNvPr id="7" name="Text 5"/>
          <p:cNvSpPr/>
          <p:nvPr/>
        </p:nvSpPr>
        <p:spPr>
          <a:xfrm>
            <a:off x="1066800" y="301752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power cut isn't an emergency.</a:t>
            </a:r>
            <a:pPr indent="0" marL="0">
              <a:lnSpc>
                <a:spcPct val="130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inverter carries what matters — the online class, the grandparents' room — and quietly sheds the rest.</a:t>
            </a:r>
            <a:endParaRPr lang="en-US" sz="1020" dirty="0"/>
          </a:p>
        </p:txBody>
      </p:sp>
      <p:sp>
        <p:nvSpPr>
          <p:cNvPr id="8" name="Text 6"/>
          <p:cNvSpPr/>
          <p:nvPr/>
        </p:nvSpPr>
        <p:spPr>
          <a:xfrm>
            <a:off x="1066800" y="382524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family stays the boss.</a:t>
            </a:r>
            <a:pPr indent="0" marL="0">
              <a:lnSpc>
                <a:spcPct val="130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Every action arrives with its reason; one override, and Alexa asks first next time.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6324600" y="220980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Anticipation is the feature India needs.</a:t>
            </a:r>
            <a:pPr indent="0" marL="0">
              <a:lnSpc>
                <a:spcPct val="130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Power cuts, water-supply windows and tariff slots are the daily rhythm here — a purely reactive assistant cannot keep up with them.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6324600" y="301752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Amazon, it makes Alexa indispensable.</a:t>
            </a:r>
            <a:pPr indent="0" marL="0">
              <a:lnSpc>
                <a:spcPct val="130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Echo already in the living room becomes the household's brain — not just another speaker.</a:t>
            </a:r>
            <a:endParaRPr lang="en-US" sz="1020" dirty="0"/>
          </a:p>
        </p:txBody>
      </p:sp>
      <p:sp>
        <p:nvSpPr>
          <p:cNvPr id="11" name="Shape 9"/>
          <p:cNvSpPr/>
          <p:nvPr/>
        </p:nvSpPr>
        <p:spPr>
          <a:xfrm>
            <a:off x="1066800" y="469392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6800" y="4815840"/>
            <a:ext cx="381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Where this goes next</a:t>
            </a:r>
            <a:endParaRPr lang="en-US" sz="1440" dirty="0"/>
          </a:p>
        </p:txBody>
      </p:sp>
      <p:sp>
        <p:nvSpPr>
          <p:cNvPr id="13" name="Shape 11"/>
          <p:cNvSpPr/>
          <p:nvPr/>
        </p:nvSpPr>
        <p:spPr>
          <a:xfrm>
            <a:off x="1066800" y="521208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6800" y="533400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Sensor fusion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1066800" y="5577840"/>
            <a:ext cx="23622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87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Hear the pressure-cooker whistle and the water-motor hum — context from sound and power signatures, no new hardware.</a:t>
            </a:r>
            <a:endParaRPr lang="en-US" sz="870" dirty="0"/>
          </a:p>
        </p:txBody>
      </p:sp>
      <p:sp>
        <p:nvSpPr>
          <p:cNvPr id="16" name="Shape 14"/>
          <p:cNvSpPr/>
          <p:nvPr/>
        </p:nvSpPr>
        <p:spPr>
          <a:xfrm>
            <a:off x="3627120" y="521208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120" y="533400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Hindi &amp; Hinglish voice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3627120" y="5577840"/>
            <a:ext cx="23622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87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suggestions in the language the household actually speaks, member by member.</a:t>
            </a:r>
            <a:endParaRPr lang="en-US" sz="870" dirty="0"/>
          </a:p>
        </p:txBody>
      </p:sp>
      <p:sp>
        <p:nvSpPr>
          <p:cNvPr id="19" name="Shape 17"/>
          <p:cNvSpPr/>
          <p:nvPr/>
        </p:nvSpPr>
        <p:spPr>
          <a:xfrm>
            <a:off x="6187440" y="521208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87440" y="533400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 by default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6187440" y="5577840"/>
            <a:ext cx="23622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87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Routine learning moves on-device; only anonymised patterns ever reach the cloud.</a:t>
            </a:r>
            <a:endParaRPr lang="en-US" sz="870" dirty="0"/>
          </a:p>
        </p:txBody>
      </p:sp>
      <p:sp>
        <p:nvSpPr>
          <p:cNvPr id="22" name="Shape 20"/>
          <p:cNvSpPr/>
          <p:nvPr/>
        </p:nvSpPr>
        <p:spPr>
          <a:xfrm>
            <a:off x="8747760" y="521208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47760" y="533400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Beyond one home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8747760" y="5577840"/>
            <a:ext cx="23622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87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Matter ecosystem support and society-level insight: a colony that pre-arms for the 14:00 power cut together.</a:t>
            </a:r>
            <a:endParaRPr lang="en-US" sz="870" dirty="0"/>
          </a:p>
        </p:txBody>
      </p:sp>
      <p:sp>
        <p:nvSpPr>
          <p:cNvPr id="25" name="Text 23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9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17983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 YOU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" y="2148840"/>
            <a:ext cx="9144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Questions?</a:t>
            </a:r>
            <a:endParaRPr lang="en-US" sz="5520" dirty="0"/>
          </a:p>
        </p:txBody>
      </p:sp>
      <p:sp>
        <p:nvSpPr>
          <p:cNvPr id="4" name="Text 2"/>
          <p:cNvSpPr/>
          <p:nvPr/>
        </p:nvSpPr>
        <p:spPr>
          <a:xfrm>
            <a:off x="1143000" y="3200400"/>
            <a:ext cx="7620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i="1" dirty="0">
                <a:solidFill>
                  <a:srgbClr val="5C554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An Alexa that earns trust, one morning chai at a time.</a:t>
            </a:r>
            <a:endParaRPr lang="en-US" sz="1560" dirty="0"/>
          </a:p>
        </p:txBody>
      </p:sp>
      <p:sp>
        <p:nvSpPr>
          <p:cNvPr id="5" name="Shape 3"/>
          <p:cNvSpPr/>
          <p:nvPr/>
        </p:nvSpPr>
        <p:spPr>
          <a:xfrm>
            <a:off x="1143000" y="3840480"/>
            <a:ext cx="2590800" cy="396240"/>
          </a:xfrm>
          <a:prstGeom prst="roundRect">
            <a:avLst>
              <a:gd name="adj" fmla="val 48462"/>
            </a:avLst>
          </a:prstGeom>
          <a:solidFill>
            <a:srgbClr val="221E17"/>
          </a:solidFill>
          <a:ln/>
        </p:spPr>
      </p:sp>
      <p:sp>
        <p:nvSpPr>
          <p:cNvPr id="6" name="Text 4">
            <a:hlinkClick r:id="rId1" tooltip=""/>
          </p:cNvPr>
          <p:cNvSpPr/>
          <p:nvPr/>
        </p:nvSpPr>
        <p:spPr>
          <a:xfrm>
            <a:off x="1143000" y="3840480"/>
            <a:ext cx="25908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u="sng" dirty="0">
                <a:solidFill>
                  <a:srgbClr val="F6F1E7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demo — 54.252.207.144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3886200" y="3840480"/>
            <a:ext cx="3200400" cy="396240"/>
          </a:xfrm>
          <a:prstGeom prst="roundRect">
            <a:avLst>
              <a:gd name="adj" fmla="val 48462"/>
            </a:avLst>
          </a:prstGeom>
          <a:solidFill>
            <a:srgbClr val="F6F1E7"/>
          </a:solidFill>
          <a:ln w="15875">
            <a:solidFill>
              <a:srgbClr val="221E17"/>
            </a:solidFill>
            <a:prstDash val="solid"/>
          </a:ln>
        </p:spPr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3886200" y="3840480"/>
            <a:ext cx="3200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u="sng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github.com/piyushk-dev/hackon_project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1143000" y="477012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</a:t>
            </a:r>
            <a:pPr indent="0" marL="0"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 Raisers</a:t>
            </a:r>
            <a:pPr indent="0" marL="0">
              <a:buNone/>
            </a:pPr>
            <a:r>
              <a:rPr lang="en-US" sz="102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Priyanshu Agarwal &amp; Piyush Kumar · HackOn with Amazon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9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Alexa Thinks Ahead — HackOn with Amazon</dc:title>
  <dc:subject>PptxGenJS Presentation</dc:subject>
  <dc:creator>Team Bar Raisers</dc:creator>
  <cp:lastModifiedBy>Team Bar Raisers</cp:lastModifiedBy>
  <cp:revision>1</cp:revision>
  <dcterms:created xsi:type="dcterms:W3CDTF">2026-07-10T19:36:16Z</dcterms:created>
  <dcterms:modified xsi:type="dcterms:W3CDTF">2026-07-10T19:36:16Z</dcterms:modified>
</cp:coreProperties>
</file>