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video" Target="../media/media-6-1.mp4"/><Relationship Id="rId2" Type="http://schemas.microsoft.com/office/2007/relationships/media" Target="../media/media-6-1.mp4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://54.252.207.144/" TargetMode="External"/><Relationship Id="rId2" Type="http://schemas.openxmlformats.org/officeDocument/2006/relationships/hyperlink" Target="https://github.com/piyushk-dev/hackon_project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6F1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thequacker/hackon_project/hackon_project/deck/assets/c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96240" y="6324600"/>
            <a:ext cx="579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</a:t>
            </a:r>
            <a:pPr algn="l" indent="0" marL="0">
              <a:buNone/>
            </a:pPr>
            <a:r>
              <a:rPr lang="en-US" sz="960" b="1" dirty="0">
                <a:solidFill>
                  <a:srgbClr val="0A5A5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Bar Raisers</a:t>
            </a:r>
            <a:pPr algn="l" indent="0" marL="0">
              <a:buNone/>
            </a:pPr>
            <a:r>
              <a:rPr lang="en-US" sz="96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·  Priyanshu Agarwal &amp; Piyush Kumar</a:t>
            </a:r>
            <a:endParaRPr lang="en-US" sz="96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1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838200"/>
            <a:ext cx="533400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C77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NEXT TEN MINUTES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66800" y="1143000"/>
            <a:ext cx="5029200" cy="312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528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From a command-taker to a </a:t>
            </a:r>
            <a:pPr indent="0" marL="0">
              <a:lnSpc>
                <a:spcPct val="98000"/>
              </a:lnSpc>
              <a:buNone/>
            </a:pPr>
            <a:r>
              <a:rPr lang="en-US" sz="5280" i="1" dirty="0">
                <a:solidFill>
                  <a:srgbClr val="0E7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household partner</a:t>
            </a:r>
            <a:pPr indent="0" marL="0">
              <a:lnSpc>
                <a:spcPct val="98000"/>
              </a:lnSpc>
              <a:buNone/>
            </a:pPr>
            <a:r>
              <a:rPr lang="en-US" sz="528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.</a:t>
            </a:r>
            <a:endParaRPr lang="en-US" sz="5280" dirty="0"/>
          </a:p>
        </p:txBody>
      </p:sp>
      <p:sp>
        <p:nvSpPr>
          <p:cNvPr id="4" name="Text 2"/>
          <p:cNvSpPr/>
          <p:nvPr/>
        </p:nvSpPr>
        <p:spPr>
          <a:xfrm>
            <a:off x="1066800" y="441960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Alexa that learns the rhythm of an Indian home and acts </a:t>
            </a:r>
            <a:pPr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</a:t>
            </a:r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anyone asks — every action explained, every liberty earned.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705600" y="838200"/>
            <a:ext cx="457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C7741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01</a:t>
            </a:r>
            <a:endParaRPr lang="en-US" sz="1560" dirty="0"/>
          </a:p>
        </p:txBody>
      </p:sp>
      <p:sp>
        <p:nvSpPr>
          <p:cNvPr id="6" name="Text 4"/>
          <p:cNvSpPr/>
          <p:nvPr/>
        </p:nvSpPr>
        <p:spPr>
          <a:xfrm>
            <a:off x="7345680" y="822960"/>
            <a:ext cx="377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problem</a:t>
            </a:r>
            <a:endParaRPr lang="en-US" sz="1440" dirty="0"/>
          </a:p>
        </p:txBody>
      </p:sp>
      <p:sp>
        <p:nvSpPr>
          <p:cNvPr id="7" name="Text 5"/>
          <p:cNvSpPr/>
          <p:nvPr/>
        </p:nvSpPr>
        <p:spPr>
          <a:xfrm>
            <a:off x="7345680" y="1127760"/>
            <a:ext cx="37795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today's Alexa can't do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705600" y="1463040"/>
            <a:ext cx="4419600" cy="0"/>
          </a:xfrm>
          <a:prstGeom prst="line">
            <a:avLst/>
          </a:prstGeom>
          <a:noFill/>
          <a:ln w="12700">
            <a:solidFill>
              <a:srgbClr val="DDD2B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05600" y="1615440"/>
            <a:ext cx="457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C7741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02</a:t>
            </a:r>
            <a:endParaRPr lang="en-US" sz="1560" dirty="0"/>
          </a:p>
        </p:txBody>
      </p:sp>
      <p:sp>
        <p:nvSpPr>
          <p:cNvPr id="10" name="Text 8"/>
          <p:cNvSpPr/>
          <p:nvPr/>
        </p:nvSpPr>
        <p:spPr>
          <a:xfrm>
            <a:off x="7345680" y="1600200"/>
            <a:ext cx="377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scenario</a:t>
            </a:r>
            <a:endParaRPr lang="en-US" sz="1440" dirty="0"/>
          </a:p>
        </p:txBody>
      </p:sp>
      <p:sp>
        <p:nvSpPr>
          <p:cNvPr id="11" name="Text 9"/>
          <p:cNvSpPr/>
          <p:nvPr/>
        </p:nvSpPr>
        <p:spPr>
          <a:xfrm>
            <a:off x="7345680" y="1905000"/>
            <a:ext cx="37795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Dadaji's 6:45 bath — thirty mornings of it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705600" y="2240280"/>
            <a:ext cx="4419600" cy="0"/>
          </a:xfrm>
          <a:prstGeom prst="line">
            <a:avLst/>
          </a:prstGeom>
          <a:noFill/>
          <a:ln w="12700">
            <a:solidFill>
              <a:srgbClr val="DDD2B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705600" y="2392680"/>
            <a:ext cx="457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C7741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03</a:t>
            </a:r>
            <a:endParaRPr lang="en-US" sz="1560" dirty="0"/>
          </a:p>
        </p:txBody>
      </p:sp>
      <p:sp>
        <p:nvSpPr>
          <p:cNvPr id="14" name="Text 12"/>
          <p:cNvSpPr/>
          <p:nvPr/>
        </p:nvSpPr>
        <p:spPr>
          <a:xfrm>
            <a:off x="7345680" y="2377440"/>
            <a:ext cx="377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 need as a customer</a:t>
            </a:r>
            <a:endParaRPr lang="en-US" sz="1440" dirty="0"/>
          </a:p>
        </p:txBody>
      </p:sp>
      <p:sp>
        <p:nvSpPr>
          <p:cNvPr id="15" name="Text 13"/>
          <p:cNvSpPr/>
          <p:nvPr/>
        </p:nvSpPr>
        <p:spPr>
          <a:xfrm>
            <a:off x="7345680" y="2682240"/>
            <a:ext cx="37795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And what we built for each need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705600" y="3017520"/>
            <a:ext cx="4419600" cy="0"/>
          </a:xfrm>
          <a:prstGeom prst="line">
            <a:avLst/>
          </a:prstGeom>
          <a:noFill/>
          <a:ln w="12700">
            <a:solidFill>
              <a:srgbClr val="DDD2B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705600" y="3169920"/>
            <a:ext cx="457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C7741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04</a:t>
            </a:r>
            <a:endParaRPr lang="en-US" sz="1560" dirty="0"/>
          </a:p>
        </p:txBody>
      </p:sp>
      <p:sp>
        <p:nvSpPr>
          <p:cNvPr id="18" name="Text 16"/>
          <p:cNvSpPr/>
          <p:nvPr/>
        </p:nvSpPr>
        <p:spPr>
          <a:xfrm>
            <a:off x="7345680" y="3154680"/>
            <a:ext cx="377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Live demo</a:t>
            </a:r>
            <a:endParaRPr lang="en-US" sz="1440" dirty="0"/>
          </a:p>
        </p:txBody>
      </p:sp>
      <p:sp>
        <p:nvSpPr>
          <p:cNvPr id="19" name="Text 17"/>
          <p:cNvSpPr/>
          <p:nvPr/>
        </p:nvSpPr>
        <p:spPr>
          <a:xfrm>
            <a:off x="7345680" y="3459480"/>
            <a:ext cx="37795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day in an Indian home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705600" y="3794760"/>
            <a:ext cx="4419600" cy="0"/>
          </a:xfrm>
          <a:prstGeom prst="line">
            <a:avLst/>
          </a:prstGeom>
          <a:noFill/>
          <a:ln w="12700">
            <a:solidFill>
              <a:srgbClr val="DDD2B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705600" y="3947160"/>
            <a:ext cx="457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C7741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05</a:t>
            </a:r>
            <a:endParaRPr lang="en-US" sz="1560" dirty="0"/>
          </a:p>
        </p:txBody>
      </p:sp>
      <p:sp>
        <p:nvSpPr>
          <p:cNvPr id="22" name="Text 20"/>
          <p:cNvSpPr/>
          <p:nvPr/>
        </p:nvSpPr>
        <p:spPr>
          <a:xfrm>
            <a:off x="7345680" y="3931920"/>
            <a:ext cx="377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 architecture</a:t>
            </a:r>
            <a:endParaRPr lang="en-US" sz="1440" dirty="0"/>
          </a:p>
        </p:txBody>
      </p:sp>
      <p:sp>
        <p:nvSpPr>
          <p:cNvPr id="23" name="Text 21"/>
          <p:cNvSpPr/>
          <p:nvPr/>
        </p:nvSpPr>
        <p:spPr>
          <a:xfrm>
            <a:off x="7345680" y="4236720"/>
            <a:ext cx="37795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routine model + an LLM that knows today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705600" y="4572000"/>
            <a:ext cx="4419600" cy="0"/>
          </a:xfrm>
          <a:prstGeom prst="line">
            <a:avLst/>
          </a:prstGeom>
          <a:noFill/>
          <a:ln w="12700">
            <a:solidFill>
              <a:srgbClr val="DDD2B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705600" y="4724400"/>
            <a:ext cx="457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C7741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06</a:t>
            </a:r>
            <a:endParaRPr lang="en-US" sz="1560" dirty="0"/>
          </a:p>
        </p:txBody>
      </p:sp>
      <p:sp>
        <p:nvSpPr>
          <p:cNvPr id="26" name="Text 24"/>
          <p:cNvSpPr/>
          <p:nvPr/>
        </p:nvSpPr>
        <p:spPr>
          <a:xfrm>
            <a:off x="7345680" y="4709160"/>
            <a:ext cx="377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Impact &amp; future vision</a:t>
            </a:r>
            <a:endParaRPr lang="en-US" sz="1440" dirty="0"/>
          </a:p>
        </p:txBody>
      </p:sp>
      <p:sp>
        <p:nvSpPr>
          <p:cNvPr id="27" name="Text 25"/>
          <p:cNvSpPr/>
          <p:nvPr/>
        </p:nvSpPr>
        <p:spPr>
          <a:xfrm>
            <a:off x="7345680" y="5013960"/>
            <a:ext cx="37795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this unlocks for the next billion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705600" y="5349240"/>
            <a:ext cx="4419600" cy="0"/>
          </a:xfrm>
          <a:prstGeom prst="line">
            <a:avLst/>
          </a:prstGeom>
          <a:noFill/>
          <a:ln w="12700">
            <a:solidFill>
              <a:srgbClr val="DDD2B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705600" y="5501640"/>
            <a:ext cx="457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C7741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07</a:t>
            </a:r>
            <a:endParaRPr lang="en-US" sz="1560" dirty="0"/>
          </a:p>
        </p:txBody>
      </p:sp>
      <p:sp>
        <p:nvSpPr>
          <p:cNvPr id="30" name="Text 28"/>
          <p:cNvSpPr/>
          <p:nvPr/>
        </p:nvSpPr>
        <p:spPr>
          <a:xfrm>
            <a:off x="7345680" y="5486400"/>
            <a:ext cx="377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Questions</a:t>
            </a:r>
            <a:endParaRPr lang="en-US" sz="1440" dirty="0"/>
          </a:p>
        </p:txBody>
      </p:sp>
      <p:sp>
        <p:nvSpPr>
          <p:cNvPr id="31" name="Shape 29"/>
          <p:cNvSpPr/>
          <p:nvPr/>
        </p:nvSpPr>
        <p:spPr>
          <a:xfrm>
            <a:off x="6705600" y="5928360"/>
            <a:ext cx="4419600" cy="0"/>
          </a:xfrm>
          <a:prstGeom prst="line">
            <a:avLst/>
          </a:prstGeom>
          <a:noFill/>
          <a:ln w="12700">
            <a:solidFill>
              <a:srgbClr val="DDD2B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972800" y="6461760"/>
            <a:ext cx="9144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spc="150" kern="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/ 9</a:t>
            </a:r>
            <a:endParaRPr lang="en-US" sz="78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1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731520"/>
            <a:ext cx="533400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C77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PROBLEM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66800" y="1021080"/>
            <a:ext cx="10134600" cy="149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Indian homes run on rhythm.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Smart homes still 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B048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wait for orders</a:t>
            </a:r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1066800" y="2651760"/>
            <a:ext cx="100584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80" i="1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“Alexa, you should already know this.”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— a multi-generational household issues dozens of commands a day to devices that never learn what happens next.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066800" y="3444240"/>
            <a:ext cx="1314994" cy="30480"/>
          </a:xfrm>
          <a:prstGeom prst="roundRect">
            <a:avLst>
              <a:gd name="adj" fmla="val 45000"/>
            </a:avLst>
          </a:prstGeom>
          <a:solidFill>
            <a:srgbClr val="DDD2BA"/>
          </a:solidFill>
          <a:ln/>
        </p:spPr>
      </p:sp>
      <p:sp>
        <p:nvSpPr>
          <p:cNvPr id="6" name="Shape 4"/>
          <p:cNvSpPr/>
          <p:nvPr/>
        </p:nvSpPr>
        <p:spPr>
          <a:xfrm>
            <a:off x="1059180" y="3406140"/>
            <a:ext cx="99060" cy="9906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7" name="Text 5"/>
          <p:cNvSpPr/>
          <p:nvPr/>
        </p:nvSpPr>
        <p:spPr>
          <a:xfrm>
            <a:off x="1066800" y="3611880"/>
            <a:ext cx="1314994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05:30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66800" y="3840480"/>
            <a:ext cx="12845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Morning pooja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503714" y="3444240"/>
            <a:ext cx="1314994" cy="30480"/>
          </a:xfrm>
          <a:prstGeom prst="roundRect">
            <a:avLst>
              <a:gd name="adj" fmla="val 45000"/>
            </a:avLst>
          </a:prstGeom>
          <a:solidFill>
            <a:srgbClr val="DDD2BA"/>
          </a:solidFill>
          <a:ln/>
        </p:spPr>
      </p:sp>
      <p:sp>
        <p:nvSpPr>
          <p:cNvPr id="10" name="Shape 8"/>
          <p:cNvSpPr/>
          <p:nvPr/>
        </p:nvSpPr>
        <p:spPr>
          <a:xfrm>
            <a:off x="2496094" y="3406140"/>
            <a:ext cx="99060" cy="99060"/>
          </a:xfrm>
          <a:prstGeom prst="ellipse">
            <a:avLst/>
          </a:prstGeom>
          <a:solidFill>
            <a:srgbClr val="C77414"/>
          </a:solidFill>
          <a:ln/>
        </p:spPr>
      </p:sp>
      <p:sp>
        <p:nvSpPr>
          <p:cNvPr id="11" name="Text 9"/>
          <p:cNvSpPr/>
          <p:nvPr/>
        </p:nvSpPr>
        <p:spPr>
          <a:xfrm>
            <a:off x="2503714" y="3611880"/>
            <a:ext cx="1314994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06:15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503714" y="3840480"/>
            <a:ext cx="12845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Geyser for bath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940629" y="3444240"/>
            <a:ext cx="1314994" cy="30480"/>
          </a:xfrm>
          <a:prstGeom prst="roundRect">
            <a:avLst>
              <a:gd name="adj" fmla="val 45000"/>
            </a:avLst>
          </a:prstGeom>
          <a:solidFill>
            <a:srgbClr val="DDD2BA"/>
          </a:solidFill>
          <a:ln/>
        </p:spPr>
      </p:sp>
      <p:sp>
        <p:nvSpPr>
          <p:cNvPr id="14" name="Shape 12"/>
          <p:cNvSpPr/>
          <p:nvPr/>
        </p:nvSpPr>
        <p:spPr>
          <a:xfrm>
            <a:off x="3933009" y="3406140"/>
            <a:ext cx="99060" cy="9906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15" name="Text 13"/>
          <p:cNvSpPr/>
          <p:nvPr/>
        </p:nvSpPr>
        <p:spPr>
          <a:xfrm>
            <a:off x="3940629" y="3611880"/>
            <a:ext cx="1314994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07:30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940629" y="3840480"/>
            <a:ext cx="12845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Pressure-cooker breakfast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377543" y="3444240"/>
            <a:ext cx="1314994" cy="30480"/>
          </a:xfrm>
          <a:prstGeom prst="roundRect">
            <a:avLst>
              <a:gd name="adj" fmla="val 45000"/>
            </a:avLst>
          </a:prstGeom>
          <a:solidFill>
            <a:srgbClr val="DDD2BA"/>
          </a:solidFill>
          <a:ln/>
        </p:spPr>
      </p:sp>
      <p:sp>
        <p:nvSpPr>
          <p:cNvPr id="18" name="Shape 16"/>
          <p:cNvSpPr/>
          <p:nvPr/>
        </p:nvSpPr>
        <p:spPr>
          <a:xfrm>
            <a:off x="5369923" y="3406140"/>
            <a:ext cx="99060" cy="99060"/>
          </a:xfrm>
          <a:prstGeom prst="ellipse">
            <a:avLst/>
          </a:prstGeom>
          <a:solidFill>
            <a:srgbClr val="C77414"/>
          </a:solidFill>
          <a:ln/>
        </p:spPr>
      </p:sp>
      <p:sp>
        <p:nvSpPr>
          <p:cNvPr id="19" name="Text 17"/>
          <p:cNvSpPr/>
          <p:nvPr/>
        </p:nvSpPr>
        <p:spPr>
          <a:xfrm>
            <a:off x="5377543" y="3611880"/>
            <a:ext cx="1314994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08:00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377543" y="3840480"/>
            <a:ext cx="12845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Water motor on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814457" y="3444240"/>
            <a:ext cx="1314994" cy="30480"/>
          </a:xfrm>
          <a:prstGeom prst="roundRect">
            <a:avLst>
              <a:gd name="adj" fmla="val 45000"/>
            </a:avLst>
          </a:prstGeom>
          <a:solidFill>
            <a:srgbClr val="DDD2BA"/>
          </a:solidFill>
          <a:ln/>
        </p:spPr>
      </p:sp>
      <p:sp>
        <p:nvSpPr>
          <p:cNvPr id="22" name="Shape 20"/>
          <p:cNvSpPr/>
          <p:nvPr/>
        </p:nvSpPr>
        <p:spPr>
          <a:xfrm>
            <a:off x="6806837" y="3406140"/>
            <a:ext cx="99060" cy="99060"/>
          </a:xfrm>
          <a:prstGeom prst="ellipse">
            <a:avLst/>
          </a:prstGeom>
          <a:solidFill>
            <a:srgbClr val="B0483A"/>
          </a:solidFill>
          <a:ln/>
        </p:spPr>
      </p:sp>
      <p:sp>
        <p:nvSpPr>
          <p:cNvPr id="23" name="Text 21"/>
          <p:cNvSpPr/>
          <p:nvPr/>
        </p:nvSpPr>
        <p:spPr>
          <a:xfrm>
            <a:off x="6814457" y="3611880"/>
            <a:ext cx="1314994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14:00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814457" y="3840480"/>
            <a:ext cx="12845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Power cut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8251371" y="3444240"/>
            <a:ext cx="1314994" cy="30480"/>
          </a:xfrm>
          <a:prstGeom prst="roundRect">
            <a:avLst>
              <a:gd name="adj" fmla="val 45000"/>
            </a:avLst>
          </a:prstGeom>
          <a:solidFill>
            <a:srgbClr val="DDD2BA"/>
          </a:solidFill>
          <a:ln/>
        </p:spPr>
      </p:sp>
      <p:sp>
        <p:nvSpPr>
          <p:cNvPr id="26" name="Shape 24"/>
          <p:cNvSpPr/>
          <p:nvPr/>
        </p:nvSpPr>
        <p:spPr>
          <a:xfrm>
            <a:off x="8243751" y="3406140"/>
            <a:ext cx="99060" cy="99060"/>
          </a:xfrm>
          <a:prstGeom prst="ellipse">
            <a:avLst/>
          </a:prstGeom>
          <a:solidFill>
            <a:srgbClr val="C77414"/>
          </a:solidFill>
          <a:ln/>
        </p:spPr>
      </p:sp>
      <p:sp>
        <p:nvSpPr>
          <p:cNvPr id="27" name="Text 25"/>
          <p:cNvSpPr/>
          <p:nvPr/>
        </p:nvSpPr>
        <p:spPr>
          <a:xfrm>
            <a:off x="8251371" y="3611880"/>
            <a:ext cx="1314994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17:00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251371" y="3840480"/>
            <a:ext cx="12845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Tuition hours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9688286" y="3444240"/>
            <a:ext cx="1314994" cy="30480"/>
          </a:xfrm>
          <a:prstGeom prst="roundRect">
            <a:avLst>
              <a:gd name="adj" fmla="val 45000"/>
            </a:avLst>
          </a:prstGeom>
          <a:solidFill>
            <a:srgbClr val="DDD2BA"/>
          </a:solidFill>
          <a:ln/>
        </p:spPr>
      </p:sp>
      <p:sp>
        <p:nvSpPr>
          <p:cNvPr id="30" name="Shape 28"/>
          <p:cNvSpPr/>
          <p:nvPr/>
        </p:nvSpPr>
        <p:spPr>
          <a:xfrm>
            <a:off x="9680666" y="3406140"/>
            <a:ext cx="99060" cy="9906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31" name="Text 29"/>
          <p:cNvSpPr/>
          <p:nvPr/>
        </p:nvSpPr>
        <p:spPr>
          <a:xfrm>
            <a:off x="9688286" y="3611880"/>
            <a:ext cx="1314994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18:30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9688286" y="3840480"/>
            <a:ext cx="12845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Evening chai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1066800" y="4495800"/>
            <a:ext cx="3215640" cy="1722120"/>
          </a:xfrm>
          <a:prstGeom prst="roundRect">
            <a:avLst>
              <a:gd name="adj" fmla="val 6372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1066800" y="4495800"/>
            <a:ext cx="3215640" cy="53340"/>
          </a:xfrm>
          <a:prstGeom prst="roundRect">
            <a:avLst>
              <a:gd name="adj" fmla="val 34286"/>
            </a:avLst>
          </a:prstGeom>
          <a:solidFill>
            <a:srgbClr val="B0483A"/>
          </a:solidFill>
          <a:ln/>
        </p:spPr>
      </p:sp>
      <p:sp>
        <p:nvSpPr>
          <p:cNvPr id="35" name="Text 33"/>
          <p:cNvSpPr/>
          <p:nvPr/>
        </p:nvSpPr>
        <p:spPr>
          <a:xfrm>
            <a:off x="1325880" y="473964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Reactive, not ready</a:t>
            </a:r>
            <a:endParaRPr lang="en-US" sz="1560" dirty="0"/>
          </a:p>
        </p:txBody>
      </p:sp>
      <p:sp>
        <p:nvSpPr>
          <p:cNvPr id="36" name="Text 34"/>
          <p:cNvSpPr/>
          <p:nvPr/>
        </p:nvSpPr>
        <p:spPr>
          <a:xfrm>
            <a:off x="1325880" y="5059680"/>
            <a:ext cx="271272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6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"Alexa, turn on the geyser" — every single morning. The assistant obeys, but the hot water is still 20 minutes late.</a:t>
            </a:r>
            <a:endParaRPr lang="en-US" sz="960" dirty="0"/>
          </a:p>
        </p:txBody>
      </p:sp>
      <p:sp>
        <p:nvSpPr>
          <p:cNvPr id="37" name="Shape 35"/>
          <p:cNvSpPr/>
          <p:nvPr/>
        </p:nvSpPr>
        <p:spPr>
          <a:xfrm>
            <a:off x="4480560" y="4495800"/>
            <a:ext cx="3215640" cy="1722120"/>
          </a:xfrm>
          <a:prstGeom prst="roundRect">
            <a:avLst>
              <a:gd name="adj" fmla="val 6372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4480560" y="4495800"/>
            <a:ext cx="3215640" cy="53340"/>
          </a:xfrm>
          <a:prstGeom prst="roundRect">
            <a:avLst>
              <a:gd name="adj" fmla="val 34286"/>
            </a:avLst>
          </a:prstGeom>
          <a:solidFill>
            <a:srgbClr val="B0483A"/>
          </a:solidFill>
          <a:ln/>
        </p:spPr>
      </p:sp>
      <p:sp>
        <p:nvSpPr>
          <p:cNvPr id="39" name="Text 37"/>
          <p:cNvSpPr/>
          <p:nvPr/>
        </p:nvSpPr>
        <p:spPr>
          <a:xfrm>
            <a:off x="4739640" y="473964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Context-blind</a:t>
            </a:r>
            <a:endParaRPr lang="en-US" sz="1560" dirty="0"/>
          </a:p>
        </p:txBody>
      </p:sp>
      <p:sp>
        <p:nvSpPr>
          <p:cNvPr id="40" name="Text 38"/>
          <p:cNvSpPr/>
          <p:nvPr/>
        </p:nvSpPr>
        <p:spPr>
          <a:xfrm>
            <a:off x="4739640" y="5059680"/>
            <a:ext cx="271272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6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 doesn't know a power cut is different during a child's online class, or that grandparents bathe before everyone wakes.</a:t>
            </a:r>
            <a:endParaRPr lang="en-US" sz="960" dirty="0"/>
          </a:p>
        </p:txBody>
      </p:sp>
      <p:sp>
        <p:nvSpPr>
          <p:cNvPr id="41" name="Shape 39"/>
          <p:cNvSpPr/>
          <p:nvPr/>
        </p:nvSpPr>
        <p:spPr>
          <a:xfrm>
            <a:off x="7894320" y="4495800"/>
            <a:ext cx="3215640" cy="1722120"/>
          </a:xfrm>
          <a:prstGeom prst="roundRect">
            <a:avLst>
              <a:gd name="adj" fmla="val 6372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7894320" y="4495800"/>
            <a:ext cx="3215640" cy="53340"/>
          </a:xfrm>
          <a:prstGeom prst="roundRect">
            <a:avLst>
              <a:gd name="adj" fmla="val 34286"/>
            </a:avLst>
          </a:prstGeom>
          <a:solidFill>
            <a:srgbClr val="B0483A"/>
          </a:solidFill>
          <a:ln/>
        </p:spPr>
      </p:sp>
      <p:sp>
        <p:nvSpPr>
          <p:cNvPr id="43" name="Text 41"/>
          <p:cNvSpPr/>
          <p:nvPr/>
        </p:nvSpPr>
        <p:spPr>
          <a:xfrm>
            <a:off x="8153400" y="473964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Trust was never earned</a:t>
            </a:r>
            <a:endParaRPr lang="en-US" sz="1560" dirty="0"/>
          </a:p>
        </p:txBody>
      </p:sp>
      <p:sp>
        <p:nvSpPr>
          <p:cNvPr id="44" name="Text 42"/>
          <p:cNvSpPr/>
          <p:nvPr/>
        </p:nvSpPr>
        <p:spPr>
          <a:xfrm>
            <a:off x="8153400" y="5059680"/>
            <a:ext cx="271272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6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explanations, no way to correct it — so families keep automation switched off and do everything by hand.</a:t>
            </a:r>
            <a:endParaRPr lang="en-US" sz="960" dirty="0"/>
          </a:p>
        </p:txBody>
      </p:sp>
      <p:sp>
        <p:nvSpPr>
          <p:cNvPr id="45" name="Text 43"/>
          <p:cNvSpPr/>
          <p:nvPr/>
        </p:nvSpPr>
        <p:spPr>
          <a:xfrm>
            <a:off x="10972800" y="6461760"/>
            <a:ext cx="9144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spc="150" kern="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/ 9</a:t>
            </a:r>
            <a:endParaRPr lang="en-US" sz="78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1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640080"/>
            <a:ext cx="533400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C77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SCENARIO — DADAJI'S BATH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66800" y="929640"/>
            <a:ext cx="7620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4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30 mornings. </a:t>
            </a:r>
            <a:pPr indent="0" marL="0">
              <a:buNone/>
            </a:pPr>
            <a:r>
              <a:rPr lang="en-US" sz="3840" i="1" dirty="0">
                <a:solidFill>
                  <a:srgbClr val="0E7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One pattern.</a:t>
            </a:r>
            <a:endParaRPr lang="en-US" sz="3840" dirty="0"/>
          </a:p>
        </p:txBody>
      </p:sp>
      <p:sp>
        <p:nvSpPr>
          <p:cNvPr id="4" name="Shape 2"/>
          <p:cNvSpPr/>
          <p:nvPr/>
        </p:nvSpPr>
        <p:spPr>
          <a:xfrm>
            <a:off x="3153114" y="2148840"/>
            <a:ext cx="1256353" cy="4114800"/>
          </a:xfrm>
          <a:prstGeom prst="roundRect">
            <a:avLst>
              <a:gd name="adj" fmla="val 5095"/>
            </a:avLst>
          </a:prstGeom>
          <a:solidFill>
            <a:srgbClr val="0E7C72">
              <a:alpha val="1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5433241" y="2148840"/>
            <a:ext cx="958395" cy="4114800"/>
          </a:xfrm>
          <a:prstGeom prst="roundRect">
            <a:avLst>
              <a:gd name="adj" fmla="val 6679"/>
            </a:avLst>
          </a:prstGeom>
          <a:solidFill>
            <a:srgbClr val="C77414">
              <a:alpha val="1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2612571" y="2133600"/>
            <a:ext cx="0" cy="4084320"/>
          </a:xfrm>
          <a:prstGeom prst="line">
            <a:avLst/>
          </a:prstGeom>
          <a:noFill/>
          <a:ln w="9525">
            <a:solidFill>
              <a:srgbClr val="D9D2C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307771" y="1889760"/>
            <a:ext cx="6096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90" b="1" spc="80" kern="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AM</a:t>
            </a:r>
            <a:endParaRPr lang="en-US" sz="690" dirty="0"/>
          </a:p>
        </p:txBody>
      </p:sp>
      <p:sp>
        <p:nvSpPr>
          <p:cNvPr id="8" name="Shape 6"/>
          <p:cNvSpPr/>
          <p:nvPr/>
        </p:nvSpPr>
        <p:spPr>
          <a:xfrm>
            <a:off x="4180114" y="2133600"/>
            <a:ext cx="0" cy="4084320"/>
          </a:xfrm>
          <a:prstGeom prst="line">
            <a:avLst/>
          </a:prstGeom>
          <a:noFill/>
          <a:ln w="9525">
            <a:solidFill>
              <a:srgbClr val="D9D2C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75314" y="1889760"/>
            <a:ext cx="6096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90" b="1" spc="80" kern="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AM</a:t>
            </a:r>
            <a:endParaRPr lang="en-US" sz="690" dirty="0"/>
          </a:p>
        </p:txBody>
      </p:sp>
      <p:sp>
        <p:nvSpPr>
          <p:cNvPr id="10" name="Shape 8"/>
          <p:cNvSpPr/>
          <p:nvPr/>
        </p:nvSpPr>
        <p:spPr>
          <a:xfrm>
            <a:off x="5747657" y="2133600"/>
            <a:ext cx="0" cy="4084320"/>
          </a:xfrm>
          <a:prstGeom prst="line">
            <a:avLst/>
          </a:prstGeom>
          <a:noFill/>
          <a:ln w="9525">
            <a:solidFill>
              <a:srgbClr val="D9D2C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42857" y="1889760"/>
            <a:ext cx="6096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90" b="1" spc="80" kern="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AM</a:t>
            </a:r>
            <a:endParaRPr lang="en-US" sz="690" dirty="0"/>
          </a:p>
        </p:txBody>
      </p:sp>
      <p:sp>
        <p:nvSpPr>
          <p:cNvPr id="12" name="Shape 10"/>
          <p:cNvSpPr/>
          <p:nvPr/>
        </p:nvSpPr>
        <p:spPr>
          <a:xfrm>
            <a:off x="7315200" y="2133600"/>
            <a:ext cx="0" cy="4084320"/>
          </a:xfrm>
          <a:prstGeom prst="line">
            <a:avLst/>
          </a:prstGeom>
          <a:noFill/>
          <a:ln w="9525">
            <a:solidFill>
              <a:srgbClr val="D9D2C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010400" y="1889760"/>
            <a:ext cx="6096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90" b="1" spc="80" kern="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 AM</a:t>
            </a:r>
            <a:endParaRPr lang="en-US" sz="690" dirty="0"/>
          </a:p>
        </p:txBody>
      </p:sp>
      <p:sp>
        <p:nvSpPr>
          <p:cNvPr id="14" name="Text 12"/>
          <p:cNvSpPr/>
          <p:nvPr/>
        </p:nvSpPr>
        <p:spPr>
          <a:xfrm>
            <a:off x="1028700" y="2133600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1</a:t>
            </a:r>
            <a:endParaRPr lang="en-US" sz="630" dirty="0"/>
          </a:p>
        </p:txBody>
      </p:sp>
      <p:sp>
        <p:nvSpPr>
          <p:cNvPr id="15" name="Text 13"/>
          <p:cNvSpPr/>
          <p:nvPr/>
        </p:nvSpPr>
        <p:spPr>
          <a:xfrm>
            <a:off x="1554480" y="2133600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</a:t>
            </a:r>
            <a:endParaRPr lang="en-US" sz="570" dirty="0"/>
          </a:p>
        </p:txBody>
      </p:sp>
      <p:sp>
        <p:nvSpPr>
          <p:cNvPr id="16" name="Shape 14"/>
          <p:cNvSpPr/>
          <p:nvPr/>
        </p:nvSpPr>
        <p:spPr>
          <a:xfrm>
            <a:off x="3793864" y="2152650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17" name="Text 15"/>
          <p:cNvSpPr/>
          <p:nvPr/>
        </p:nvSpPr>
        <p:spPr>
          <a:xfrm>
            <a:off x="1028700" y="2267712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</a:t>
            </a:r>
            <a:endParaRPr lang="en-US" sz="630" dirty="0"/>
          </a:p>
        </p:txBody>
      </p:sp>
      <p:sp>
        <p:nvSpPr>
          <p:cNvPr id="18" name="Text 16"/>
          <p:cNvSpPr/>
          <p:nvPr/>
        </p:nvSpPr>
        <p:spPr>
          <a:xfrm>
            <a:off x="1554480" y="2267712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</a:t>
            </a:r>
            <a:endParaRPr lang="en-US" sz="570" dirty="0"/>
          </a:p>
        </p:txBody>
      </p:sp>
      <p:sp>
        <p:nvSpPr>
          <p:cNvPr id="19" name="Shape 17"/>
          <p:cNvSpPr/>
          <p:nvPr/>
        </p:nvSpPr>
        <p:spPr>
          <a:xfrm>
            <a:off x="3722002" y="2286762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20" name="Text 18"/>
          <p:cNvSpPr/>
          <p:nvPr/>
        </p:nvSpPr>
        <p:spPr>
          <a:xfrm>
            <a:off x="1028700" y="2401824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3</a:t>
            </a:r>
            <a:endParaRPr lang="en-US" sz="630" dirty="0"/>
          </a:p>
        </p:txBody>
      </p:sp>
      <p:sp>
        <p:nvSpPr>
          <p:cNvPr id="21" name="Text 19"/>
          <p:cNvSpPr/>
          <p:nvPr/>
        </p:nvSpPr>
        <p:spPr>
          <a:xfrm>
            <a:off x="1554480" y="2401824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</a:t>
            </a:r>
            <a:endParaRPr lang="en-US" sz="570" dirty="0"/>
          </a:p>
        </p:txBody>
      </p:sp>
      <p:sp>
        <p:nvSpPr>
          <p:cNvPr id="22" name="Shape 20"/>
          <p:cNvSpPr/>
          <p:nvPr/>
        </p:nvSpPr>
        <p:spPr>
          <a:xfrm>
            <a:off x="4869724" y="2420874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23" name="Text 21"/>
          <p:cNvSpPr/>
          <p:nvPr/>
        </p:nvSpPr>
        <p:spPr>
          <a:xfrm>
            <a:off x="1028700" y="2535936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4</a:t>
            </a:r>
            <a:endParaRPr lang="en-US" sz="630" dirty="0"/>
          </a:p>
        </p:txBody>
      </p:sp>
      <p:sp>
        <p:nvSpPr>
          <p:cNvPr id="24" name="Text 22"/>
          <p:cNvSpPr/>
          <p:nvPr/>
        </p:nvSpPr>
        <p:spPr>
          <a:xfrm>
            <a:off x="1554480" y="2535936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</a:t>
            </a:r>
            <a:endParaRPr lang="en-US" sz="570" dirty="0"/>
          </a:p>
        </p:txBody>
      </p:sp>
      <p:sp>
        <p:nvSpPr>
          <p:cNvPr id="25" name="Shape 23"/>
          <p:cNvSpPr/>
          <p:nvPr/>
        </p:nvSpPr>
        <p:spPr>
          <a:xfrm>
            <a:off x="3826138" y="2554986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26" name="Text 24"/>
          <p:cNvSpPr/>
          <p:nvPr/>
        </p:nvSpPr>
        <p:spPr>
          <a:xfrm>
            <a:off x="1028700" y="2670048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5</a:t>
            </a:r>
            <a:endParaRPr lang="en-US" sz="630" dirty="0"/>
          </a:p>
        </p:txBody>
      </p:sp>
      <p:sp>
        <p:nvSpPr>
          <p:cNvPr id="27" name="Text 25"/>
          <p:cNvSpPr/>
          <p:nvPr/>
        </p:nvSpPr>
        <p:spPr>
          <a:xfrm>
            <a:off x="1554480" y="2670048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</a:t>
            </a:r>
            <a:endParaRPr lang="en-US" sz="570" dirty="0"/>
          </a:p>
        </p:txBody>
      </p:sp>
      <p:sp>
        <p:nvSpPr>
          <p:cNvPr id="28" name="Shape 26"/>
          <p:cNvSpPr/>
          <p:nvPr/>
        </p:nvSpPr>
        <p:spPr>
          <a:xfrm>
            <a:off x="3593396" y="2689098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29" name="Text 27"/>
          <p:cNvSpPr/>
          <p:nvPr/>
        </p:nvSpPr>
        <p:spPr>
          <a:xfrm>
            <a:off x="1028700" y="2804160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6</a:t>
            </a:r>
            <a:endParaRPr lang="en-US" sz="630" dirty="0"/>
          </a:p>
        </p:txBody>
      </p:sp>
      <p:sp>
        <p:nvSpPr>
          <p:cNvPr id="30" name="Text 28"/>
          <p:cNvSpPr/>
          <p:nvPr/>
        </p:nvSpPr>
        <p:spPr>
          <a:xfrm>
            <a:off x="1554480" y="2804160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</a:t>
            </a:r>
            <a:endParaRPr lang="en-US" sz="570" dirty="0"/>
          </a:p>
        </p:txBody>
      </p:sp>
      <p:sp>
        <p:nvSpPr>
          <p:cNvPr id="31" name="Shape 29"/>
          <p:cNvSpPr/>
          <p:nvPr/>
        </p:nvSpPr>
        <p:spPr>
          <a:xfrm>
            <a:off x="3758824" y="2823210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32" name="Text 30"/>
          <p:cNvSpPr/>
          <p:nvPr/>
        </p:nvSpPr>
        <p:spPr>
          <a:xfrm>
            <a:off x="1028700" y="2938272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C77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7</a:t>
            </a:r>
            <a:endParaRPr lang="en-US" sz="630" dirty="0"/>
          </a:p>
        </p:txBody>
      </p:sp>
      <p:sp>
        <p:nvSpPr>
          <p:cNvPr id="33" name="Text 31"/>
          <p:cNvSpPr/>
          <p:nvPr/>
        </p:nvSpPr>
        <p:spPr>
          <a:xfrm>
            <a:off x="1554480" y="2938272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77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</a:t>
            </a:r>
            <a:endParaRPr lang="en-US" sz="570" dirty="0"/>
          </a:p>
        </p:txBody>
      </p:sp>
      <p:sp>
        <p:nvSpPr>
          <p:cNvPr id="34" name="Shape 32"/>
          <p:cNvSpPr/>
          <p:nvPr/>
        </p:nvSpPr>
        <p:spPr>
          <a:xfrm>
            <a:off x="5682337" y="2957322"/>
            <a:ext cx="83820" cy="83820"/>
          </a:xfrm>
          <a:prstGeom prst="ellipse">
            <a:avLst/>
          </a:prstGeom>
          <a:solidFill>
            <a:srgbClr val="C77414"/>
          </a:solidFill>
          <a:ln/>
        </p:spPr>
      </p:sp>
      <p:sp>
        <p:nvSpPr>
          <p:cNvPr id="35" name="Text 33"/>
          <p:cNvSpPr/>
          <p:nvPr/>
        </p:nvSpPr>
        <p:spPr>
          <a:xfrm>
            <a:off x="1028700" y="3072384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8</a:t>
            </a:r>
            <a:endParaRPr lang="en-US" sz="630" dirty="0"/>
          </a:p>
        </p:txBody>
      </p:sp>
      <p:sp>
        <p:nvSpPr>
          <p:cNvPr id="36" name="Text 34"/>
          <p:cNvSpPr/>
          <p:nvPr/>
        </p:nvSpPr>
        <p:spPr>
          <a:xfrm>
            <a:off x="1554480" y="3072384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</a:t>
            </a:r>
            <a:endParaRPr lang="en-US" sz="570" dirty="0"/>
          </a:p>
        </p:txBody>
      </p:sp>
      <p:sp>
        <p:nvSpPr>
          <p:cNvPr id="37" name="Shape 35"/>
          <p:cNvSpPr/>
          <p:nvPr/>
        </p:nvSpPr>
        <p:spPr>
          <a:xfrm>
            <a:off x="3804981" y="3091434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38" name="Text 36"/>
          <p:cNvSpPr/>
          <p:nvPr/>
        </p:nvSpPr>
        <p:spPr>
          <a:xfrm>
            <a:off x="1028700" y="3206496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9</a:t>
            </a:r>
            <a:endParaRPr lang="en-US" sz="630" dirty="0"/>
          </a:p>
        </p:txBody>
      </p:sp>
      <p:sp>
        <p:nvSpPr>
          <p:cNvPr id="39" name="Text 37"/>
          <p:cNvSpPr/>
          <p:nvPr/>
        </p:nvSpPr>
        <p:spPr>
          <a:xfrm>
            <a:off x="1554480" y="3206496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</a:t>
            </a:r>
            <a:endParaRPr lang="en-US" sz="570" dirty="0"/>
          </a:p>
        </p:txBody>
      </p:sp>
      <p:sp>
        <p:nvSpPr>
          <p:cNvPr id="40" name="Shape 38"/>
          <p:cNvSpPr/>
          <p:nvPr/>
        </p:nvSpPr>
        <p:spPr>
          <a:xfrm>
            <a:off x="3918188" y="3225546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41" name="Text 39"/>
          <p:cNvSpPr/>
          <p:nvPr/>
        </p:nvSpPr>
        <p:spPr>
          <a:xfrm>
            <a:off x="1028700" y="3340608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10</a:t>
            </a:r>
            <a:endParaRPr lang="en-US" sz="630" dirty="0"/>
          </a:p>
        </p:txBody>
      </p:sp>
      <p:sp>
        <p:nvSpPr>
          <p:cNvPr id="42" name="Text 40"/>
          <p:cNvSpPr/>
          <p:nvPr/>
        </p:nvSpPr>
        <p:spPr>
          <a:xfrm>
            <a:off x="1554480" y="3340608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</a:t>
            </a:r>
            <a:endParaRPr lang="en-US" sz="570" dirty="0"/>
          </a:p>
        </p:txBody>
      </p:sp>
      <p:sp>
        <p:nvSpPr>
          <p:cNvPr id="43" name="Shape 41"/>
          <p:cNvSpPr/>
          <p:nvPr/>
        </p:nvSpPr>
        <p:spPr>
          <a:xfrm>
            <a:off x="3380559" y="3359658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44" name="Text 42"/>
          <p:cNvSpPr/>
          <p:nvPr/>
        </p:nvSpPr>
        <p:spPr>
          <a:xfrm>
            <a:off x="1028700" y="3474720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11</a:t>
            </a:r>
            <a:endParaRPr lang="en-US" sz="630" dirty="0"/>
          </a:p>
        </p:txBody>
      </p:sp>
      <p:sp>
        <p:nvSpPr>
          <p:cNvPr id="45" name="Text 43"/>
          <p:cNvSpPr/>
          <p:nvPr/>
        </p:nvSpPr>
        <p:spPr>
          <a:xfrm>
            <a:off x="1554480" y="3474720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</a:t>
            </a:r>
            <a:endParaRPr lang="en-US" sz="570" dirty="0"/>
          </a:p>
        </p:txBody>
      </p:sp>
      <p:sp>
        <p:nvSpPr>
          <p:cNvPr id="46" name="Shape 44"/>
          <p:cNvSpPr/>
          <p:nvPr/>
        </p:nvSpPr>
        <p:spPr>
          <a:xfrm>
            <a:off x="3628717" y="3493770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47" name="Text 45"/>
          <p:cNvSpPr/>
          <p:nvPr/>
        </p:nvSpPr>
        <p:spPr>
          <a:xfrm>
            <a:off x="1028700" y="3608832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12</a:t>
            </a:r>
            <a:endParaRPr lang="en-US" sz="630" dirty="0"/>
          </a:p>
        </p:txBody>
      </p:sp>
      <p:sp>
        <p:nvSpPr>
          <p:cNvPr id="48" name="Text 46"/>
          <p:cNvSpPr/>
          <p:nvPr/>
        </p:nvSpPr>
        <p:spPr>
          <a:xfrm>
            <a:off x="1554480" y="3608832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</a:t>
            </a:r>
            <a:endParaRPr lang="en-US" sz="570" dirty="0"/>
          </a:p>
        </p:txBody>
      </p:sp>
      <p:sp>
        <p:nvSpPr>
          <p:cNvPr id="49" name="Shape 47"/>
          <p:cNvSpPr/>
          <p:nvPr/>
        </p:nvSpPr>
        <p:spPr>
          <a:xfrm>
            <a:off x="3925987" y="3627882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50" name="Text 48"/>
          <p:cNvSpPr/>
          <p:nvPr/>
        </p:nvSpPr>
        <p:spPr>
          <a:xfrm>
            <a:off x="1028700" y="3742944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13</a:t>
            </a:r>
            <a:endParaRPr lang="en-US" sz="630" dirty="0"/>
          </a:p>
        </p:txBody>
      </p:sp>
      <p:sp>
        <p:nvSpPr>
          <p:cNvPr id="51" name="Text 49"/>
          <p:cNvSpPr/>
          <p:nvPr/>
        </p:nvSpPr>
        <p:spPr>
          <a:xfrm>
            <a:off x="1554480" y="3742944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</a:t>
            </a:r>
            <a:endParaRPr lang="en-US" sz="570" dirty="0"/>
          </a:p>
        </p:txBody>
      </p:sp>
      <p:sp>
        <p:nvSpPr>
          <p:cNvPr id="52" name="Shape 50"/>
          <p:cNvSpPr/>
          <p:nvPr/>
        </p:nvSpPr>
        <p:spPr>
          <a:xfrm>
            <a:off x="3861880" y="3761994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53" name="Text 51"/>
          <p:cNvSpPr/>
          <p:nvPr/>
        </p:nvSpPr>
        <p:spPr>
          <a:xfrm>
            <a:off x="1028700" y="3877056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C77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14</a:t>
            </a:r>
            <a:endParaRPr lang="en-US" sz="630" dirty="0"/>
          </a:p>
        </p:txBody>
      </p:sp>
      <p:sp>
        <p:nvSpPr>
          <p:cNvPr id="54" name="Text 52"/>
          <p:cNvSpPr/>
          <p:nvPr/>
        </p:nvSpPr>
        <p:spPr>
          <a:xfrm>
            <a:off x="1554480" y="3877056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77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</a:t>
            </a:r>
            <a:endParaRPr lang="en-US" sz="570" dirty="0"/>
          </a:p>
        </p:txBody>
      </p:sp>
      <p:sp>
        <p:nvSpPr>
          <p:cNvPr id="55" name="Shape 53"/>
          <p:cNvSpPr/>
          <p:nvPr/>
        </p:nvSpPr>
        <p:spPr>
          <a:xfrm>
            <a:off x="5705278" y="3896106"/>
            <a:ext cx="83820" cy="83820"/>
          </a:xfrm>
          <a:prstGeom prst="ellipse">
            <a:avLst/>
          </a:prstGeom>
          <a:solidFill>
            <a:srgbClr val="C77414"/>
          </a:solidFill>
          <a:ln/>
        </p:spPr>
      </p:sp>
      <p:sp>
        <p:nvSpPr>
          <p:cNvPr id="56" name="Text 54"/>
          <p:cNvSpPr/>
          <p:nvPr/>
        </p:nvSpPr>
        <p:spPr>
          <a:xfrm>
            <a:off x="1028700" y="4011168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15</a:t>
            </a:r>
            <a:endParaRPr lang="en-US" sz="630" dirty="0"/>
          </a:p>
        </p:txBody>
      </p:sp>
      <p:sp>
        <p:nvSpPr>
          <p:cNvPr id="57" name="Text 55"/>
          <p:cNvSpPr/>
          <p:nvPr/>
        </p:nvSpPr>
        <p:spPr>
          <a:xfrm>
            <a:off x="1554480" y="4011168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</a:t>
            </a:r>
            <a:endParaRPr lang="en-US" sz="570" dirty="0"/>
          </a:p>
        </p:txBody>
      </p:sp>
      <p:sp>
        <p:nvSpPr>
          <p:cNvPr id="58" name="Shape 56"/>
          <p:cNvSpPr/>
          <p:nvPr/>
        </p:nvSpPr>
        <p:spPr>
          <a:xfrm>
            <a:off x="3603948" y="4030218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59" name="Text 57"/>
          <p:cNvSpPr/>
          <p:nvPr/>
        </p:nvSpPr>
        <p:spPr>
          <a:xfrm>
            <a:off x="1028700" y="4145280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16</a:t>
            </a:r>
            <a:endParaRPr lang="en-US" sz="630" dirty="0"/>
          </a:p>
        </p:txBody>
      </p:sp>
      <p:sp>
        <p:nvSpPr>
          <p:cNvPr id="60" name="Text 58"/>
          <p:cNvSpPr/>
          <p:nvPr/>
        </p:nvSpPr>
        <p:spPr>
          <a:xfrm>
            <a:off x="1554480" y="4145280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</a:t>
            </a:r>
            <a:endParaRPr lang="en-US" sz="570" dirty="0"/>
          </a:p>
        </p:txBody>
      </p:sp>
      <p:sp>
        <p:nvSpPr>
          <p:cNvPr id="61" name="Shape 59"/>
          <p:cNvSpPr/>
          <p:nvPr/>
        </p:nvSpPr>
        <p:spPr>
          <a:xfrm>
            <a:off x="3746662" y="4164330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62" name="Text 60"/>
          <p:cNvSpPr/>
          <p:nvPr/>
        </p:nvSpPr>
        <p:spPr>
          <a:xfrm>
            <a:off x="1028700" y="4279392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17</a:t>
            </a:r>
            <a:endParaRPr lang="en-US" sz="630" dirty="0"/>
          </a:p>
        </p:txBody>
      </p:sp>
      <p:sp>
        <p:nvSpPr>
          <p:cNvPr id="63" name="Text 61"/>
          <p:cNvSpPr/>
          <p:nvPr/>
        </p:nvSpPr>
        <p:spPr>
          <a:xfrm>
            <a:off x="1554480" y="4279392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</a:t>
            </a:r>
            <a:endParaRPr lang="en-US" sz="570" dirty="0"/>
          </a:p>
        </p:txBody>
      </p:sp>
      <p:sp>
        <p:nvSpPr>
          <p:cNvPr id="64" name="Shape 62"/>
          <p:cNvSpPr/>
          <p:nvPr/>
        </p:nvSpPr>
        <p:spPr>
          <a:xfrm>
            <a:off x="3834075" y="4298442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65" name="Text 63"/>
          <p:cNvSpPr/>
          <p:nvPr/>
        </p:nvSpPr>
        <p:spPr>
          <a:xfrm>
            <a:off x="1028700" y="4413504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18</a:t>
            </a:r>
            <a:endParaRPr lang="en-US" sz="630" dirty="0"/>
          </a:p>
        </p:txBody>
      </p:sp>
      <p:sp>
        <p:nvSpPr>
          <p:cNvPr id="66" name="Text 64"/>
          <p:cNvSpPr/>
          <p:nvPr/>
        </p:nvSpPr>
        <p:spPr>
          <a:xfrm>
            <a:off x="1554480" y="4413504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</a:t>
            </a:r>
            <a:endParaRPr lang="en-US" sz="570" dirty="0"/>
          </a:p>
        </p:txBody>
      </p:sp>
      <p:sp>
        <p:nvSpPr>
          <p:cNvPr id="67" name="Shape 65"/>
          <p:cNvSpPr/>
          <p:nvPr/>
        </p:nvSpPr>
        <p:spPr>
          <a:xfrm>
            <a:off x="3798339" y="4432554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68" name="Text 66"/>
          <p:cNvSpPr/>
          <p:nvPr/>
        </p:nvSpPr>
        <p:spPr>
          <a:xfrm>
            <a:off x="1028700" y="4547616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19</a:t>
            </a:r>
            <a:endParaRPr lang="en-US" sz="630" dirty="0"/>
          </a:p>
        </p:txBody>
      </p:sp>
      <p:sp>
        <p:nvSpPr>
          <p:cNvPr id="69" name="Text 67"/>
          <p:cNvSpPr/>
          <p:nvPr/>
        </p:nvSpPr>
        <p:spPr>
          <a:xfrm>
            <a:off x="1554480" y="4547616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</a:t>
            </a:r>
            <a:endParaRPr lang="en-US" sz="570" dirty="0"/>
          </a:p>
        </p:txBody>
      </p:sp>
      <p:sp>
        <p:nvSpPr>
          <p:cNvPr id="70" name="Shape 68"/>
          <p:cNvSpPr/>
          <p:nvPr/>
        </p:nvSpPr>
        <p:spPr>
          <a:xfrm>
            <a:off x="3512994" y="4566666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71" name="Text 69"/>
          <p:cNvSpPr/>
          <p:nvPr/>
        </p:nvSpPr>
        <p:spPr>
          <a:xfrm>
            <a:off x="1028700" y="4681728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20</a:t>
            </a:r>
            <a:endParaRPr lang="en-US" sz="630" dirty="0"/>
          </a:p>
        </p:txBody>
      </p:sp>
      <p:sp>
        <p:nvSpPr>
          <p:cNvPr id="72" name="Text 70"/>
          <p:cNvSpPr/>
          <p:nvPr/>
        </p:nvSpPr>
        <p:spPr>
          <a:xfrm>
            <a:off x="1554480" y="4681728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</a:t>
            </a:r>
            <a:endParaRPr lang="en-US" sz="570" dirty="0"/>
          </a:p>
        </p:txBody>
      </p:sp>
      <p:sp>
        <p:nvSpPr>
          <p:cNvPr id="73" name="Shape 71"/>
          <p:cNvSpPr/>
          <p:nvPr/>
        </p:nvSpPr>
        <p:spPr>
          <a:xfrm>
            <a:off x="3732578" y="4700778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74" name="Text 72"/>
          <p:cNvSpPr/>
          <p:nvPr/>
        </p:nvSpPr>
        <p:spPr>
          <a:xfrm>
            <a:off x="1028700" y="4815840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C77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21</a:t>
            </a:r>
            <a:endParaRPr lang="en-US" sz="630" dirty="0"/>
          </a:p>
        </p:txBody>
      </p:sp>
      <p:sp>
        <p:nvSpPr>
          <p:cNvPr id="75" name="Text 73"/>
          <p:cNvSpPr/>
          <p:nvPr/>
        </p:nvSpPr>
        <p:spPr>
          <a:xfrm>
            <a:off x="1554480" y="4815840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77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</a:t>
            </a:r>
            <a:endParaRPr lang="en-US" sz="570" dirty="0"/>
          </a:p>
        </p:txBody>
      </p:sp>
      <p:sp>
        <p:nvSpPr>
          <p:cNvPr id="76" name="Shape 74"/>
          <p:cNvSpPr/>
          <p:nvPr/>
        </p:nvSpPr>
        <p:spPr>
          <a:xfrm>
            <a:off x="6065518" y="4834890"/>
            <a:ext cx="83820" cy="83820"/>
          </a:xfrm>
          <a:prstGeom prst="ellipse">
            <a:avLst/>
          </a:prstGeom>
          <a:solidFill>
            <a:srgbClr val="C77414"/>
          </a:solidFill>
          <a:ln/>
        </p:spPr>
      </p:sp>
      <p:sp>
        <p:nvSpPr>
          <p:cNvPr id="77" name="Text 75"/>
          <p:cNvSpPr/>
          <p:nvPr/>
        </p:nvSpPr>
        <p:spPr>
          <a:xfrm>
            <a:off x="1028700" y="4949952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22</a:t>
            </a:r>
            <a:endParaRPr lang="en-US" sz="630" dirty="0"/>
          </a:p>
        </p:txBody>
      </p:sp>
      <p:sp>
        <p:nvSpPr>
          <p:cNvPr id="78" name="Text 76"/>
          <p:cNvSpPr/>
          <p:nvPr/>
        </p:nvSpPr>
        <p:spPr>
          <a:xfrm>
            <a:off x="1554480" y="4949952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</a:t>
            </a:r>
            <a:endParaRPr lang="en-US" sz="570" dirty="0"/>
          </a:p>
        </p:txBody>
      </p:sp>
      <p:sp>
        <p:nvSpPr>
          <p:cNvPr id="79" name="Shape 77"/>
          <p:cNvSpPr/>
          <p:nvPr/>
        </p:nvSpPr>
        <p:spPr>
          <a:xfrm>
            <a:off x="3535269" y="4969002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80" name="Text 78"/>
          <p:cNvSpPr/>
          <p:nvPr/>
        </p:nvSpPr>
        <p:spPr>
          <a:xfrm>
            <a:off x="1028700" y="5084064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23</a:t>
            </a:r>
            <a:endParaRPr lang="en-US" sz="630" dirty="0"/>
          </a:p>
        </p:txBody>
      </p:sp>
      <p:sp>
        <p:nvSpPr>
          <p:cNvPr id="81" name="Text 79"/>
          <p:cNvSpPr/>
          <p:nvPr/>
        </p:nvSpPr>
        <p:spPr>
          <a:xfrm>
            <a:off x="1554480" y="5084064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</a:t>
            </a:r>
            <a:endParaRPr lang="en-US" sz="570" dirty="0"/>
          </a:p>
        </p:txBody>
      </p:sp>
      <p:sp>
        <p:nvSpPr>
          <p:cNvPr id="82" name="Shape 80"/>
          <p:cNvSpPr/>
          <p:nvPr/>
        </p:nvSpPr>
        <p:spPr>
          <a:xfrm>
            <a:off x="3789735" y="5103114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83" name="Text 81"/>
          <p:cNvSpPr/>
          <p:nvPr/>
        </p:nvSpPr>
        <p:spPr>
          <a:xfrm>
            <a:off x="1028700" y="5218176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24</a:t>
            </a:r>
            <a:endParaRPr lang="en-US" sz="630" dirty="0"/>
          </a:p>
        </p:txBody>
      </p:sp>
      <p:sp>
        <p:nvSpPr>
          <p:cNvPr id="84" name="Text 82"/>
          <p:cNvSpPr/>
          <p:nvPr/>
        </p:nvSpPr>
        <p:spPr>
          <a:xfrm>
            <a:off x="1554480" y="5218176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</a:t>
            </a:r>
            <a:endParaRPr lang="en-US" sz="570" dirty="0"/>
          </a:p>
        </p:txBody>
      </p:sp>
      <p:sp>
        <p:nvSpPr>
          <p:cNvPr id="85" name="Shape 83"/>
          <p:cNvSpPr/>
          <p:nvPr/>
        </p:nvSpPr>
        <p:spPr>
          <a:xfrm>
            <a:off x="3526018" y="5237226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86" name="Text 84"/>
          <p:cNvSpPr/>
          <p:nvPr/>
        </p:nvSpPr>
        <p:spPr>
          <a:xfrm>
            <a:off x="1028700" y="5352288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25</a:t>
            </a:r>
            <a:endParaRPr lang="en-US" sz="630" dirty="0"/>
          </a:p>
        </p:txBody>
      </p:sp>
      <p:sp>
        <p:nvSpPr>
          <p:cNvPr id="87" name="Text 85"/>
          <p:cNvSpPr/>
          <p:nvPr/>
        </p:nvSpPr>
        <p:spPr>
          <a:xfrm>
            <a:off x="1554480" y="5352288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</a:t>
            </a:r>
            <a:endParaRPr lang="en-US" sz="570" dirty="0"/>
          </a:p>
        </p:txBody>
      </p:sp>
      <p:sp>
        <p:nvSpPr>
          <p:cNvPr id="88" name="Shape 86"/>
          <p:cNvSpPr/>
          <p:nvPr/>
        </p:nvSpPr>
        <p:spPr>
          <a:xfrm>
            <a:off x="3636727" y="5371338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89" name="Text 87"/>
          <p:cNvSpPr/>
          <p:nvPr/>
        </p:nvSpPr>
        <p:spPr>
          <a:xfrm>
            <a:off x="1028700" y="5486400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26</a:t>
            </a:r>
            <a:endParaRPr lang="en-US" sz="630" dirty="0"/>
          </a:p>
        </p:txBody>
      </p:sp>
      <p:sp>
        <p:nvSpPr>
          <p:cNvPr id="90" name="Text 88"/>
          <p:cNvSpPr/>
          <p:nvPr/>
        </p:nvSpPr>
        <p:spPr>
          <a:xfrm>
            <a:off x="1554480" y="5486400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</a:t>
            </a:r>
            <a:endParaRPr lang="en-US" sz="570" dirty="0"/>
          </a:p>
        </p:txBody>
      </p:sp>
      <p:sp>
        <p:nvSpPr>
          <p:cNvPr id="91" name="Shape 89"/>
          <p:cNvSpPr/>
          <p:nvPr/>
        </p:nvSpPr>
        <p:spPr>
          <a:xfrm>
            <a:off x="3540241" y="5505450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92" name="Text 90"/>
          <p:cNvSpPr/>
          <p:nvPr/>
        </p:nvSpPr>
        <p:spPr>
          <a:xfrm>
            <a:off x="1028700" y="5620512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27</a:t>
            </a:r>
            <a:endParaRPr lang="en-US" sz="630" dirty="0"/>
          </a:p>
        </p:txBody>
      </p:sp>
      <p:sp>
        <p:nvSpPr>
          <p:cNvPr id="93" name="Text 91"/>
          <p:cNvSpPr/>
          <p:nvPr/>
        </p:nvSpPr>
        <p:spPr>
          <a:xfrm>
            <a:off x="1554480" y="5620512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</a:t>
            </a:r>
            <a:endParaRPr lang="en-US" sz="570" dirty="0"/>
          </a:p>
        </p:txBody>
      </p:sp>
      <p:sp>
        <p:nvSpPr>
          <p:cNvPr id="94" name="Shape 92"/>
          <p:cNvSpPr/>
          <p:nvPr/>
        </p:nvSpPr>
        <p:spPr>
          <a:xfrm>
            <a:off x="3598510" y="5639562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95" name="Text 93"/>
          <p:cNvSpPr/>
          <p:nvPr/>
        </p:nvSpPr>
        <p:spPr>
          <a:xfrm>
            <a:off x="1028700" y="5754624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C77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28</a:t>
            </a:r>
            <a:endParaRPr lang="en-US" sz="630" dirty="0"/>
          </a:p>
        </p:txBody>
      </p:sp>
      <p:sp>
        <p:nvSpPr>
          <p:cNvPr id="96" name="Text 94"/>
          <p:cNvSpPr/>
          <p:nvPr/>
        </p:nvSpPr>
        <p:spPr>
          <a:xfrm>
            <a:off x="1554480" y="5754624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77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</a:t>
            </a:r>
            <a:endParaRPr lang="en-US" sz="570" dirty="0"/>
          </a:p>
        </p:txBody>
      </p:sp>
      <p:sp>
        <p:nvSpPr>
          <p:cNvPr id="97" name="Shape 95"/>
          <p:cNvSpPr/>
          <p:nvPr/>
        </p:nvSpPr>
        <p:spPr>
          <a:xfrm>
            <a:off x="6028980" y="5773674"/>
            <a:ext cx="83820" cy="83820"/>
          </a:xfrm>
          <a:prstGeom prst="ellipse">
            <a:avLst/>
          </a:prstGeom>
          <a:solidFill>
            <a:srgbClr val="C77414"/>
          </a:solidFill>
          <a:ln/>
        </p:spPr>
      </p:sp>
      <p:sp>
        <p:nvSpPr>
          <p:cNvPr id="98" name="Text 96"/>
          <p:cNvSpPr/>
          <p:nvPr/>
        </p:nvSpPr>
        <p:spPr>
          <a:xfrm>
            <a:off x="1028700" y="5888736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29</a:t>
            </a:r>
            <a:endParaRPr lang="en-US" sz="630" dirty="0"/>
          </a:p>
        </p:txBody>
      </p:sp>
      <p:sp>
        <p:nvSpPr>
          <p:cNvPr id="99" name="Text 97"/>
          <p:cNvSpPr/>
          <p:nvPr/>
        </p:nvSpPr>
        <p:spPr>
          <a:xfrm>
            <a:off x="1554480" y="5888736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</a:t>
            </a:r>
            <a:endParaRPr lang="en-US" sz="570" dirty="0"/>
          </a:p>
        </p:txBody>
      </p:sp>
      <p:sp>
        <p:nvSpPr>
          <p:cNvPr id="100" name="Shape 98"/>
          <p:cNvSpPr/>
          <p:nvPr/>
        </p:nvSpPr>
        <p:spPr>
          <a:xfrm>
            <a:off x="3760584" y="5907786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101" name="Text 99"/>
          <p:cNvSpPr/>
          <p:nvPr/>
        </p:nvSpPr>
        <p:spPr>
          <a:xfrm>
            <a:off x="1028700" y="6022848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30</a:t>
            </a:r>
            <a:endParaRPr lang="en-US" sz="630" dirty="0"/>
          </a:p>
        </p:txBody>
      </p:sp>
      <p:sp>
        <p:nvSpPr>
          <p:cNvPr id="102" name="Text 100"/>
          <p:cNvSpPr/>
          <p:nvPr/>
        </p:nvSpPr>
        <p:spPr>
          <a:xfrm>
            <a:off x="1554480" y="6022848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</a:t>
            </a:r>
            <a:endParaRPr lang="en-US" sz="570" dirty="0"/>
          </a:p>
        </p:txBody>
      </p:sp>
      <p:sp>
        <p:nvSpPr>
          <p:cNvPr id="103" name="Shape 101"/>
          <p:cNvSpPr/>
          <p:nvPr/>
        </p:nvSpPr>
        <p:spPr>
          <a:xfrm>
            <a:off x="3523942" y="6041898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104" name="Shape 102"/>
          <p:cNvSpPr/>
          <p:nvPr/>
        </p:nvSpPr>
        <p:spPr>
          <a:xfrm>
            <a:off x="3788229" y="2148840"/>
            <a:ext cx="0" cy="4130040"/>
          </a:xfrm>
          <a:prstGeom prst="line">
            <a:avLst/>
          </a:prstGeom>
          <a:noFill/>
          <a:ln w="17780">
            <a:solidFill>
              <a:srgbClr val="0A5A53"/>
            </a:solidFill>
            <a:prstDash val="sysDot"/>
          </a:ln>
        </p:spPr>
      </p:sp>
      <p:sp>
        <p:nvSpPr>
          <p:cNvPr id="105" name="Text 103"/>
          <p:cNvSpPr/>
          <p:nvPr/>
        </p:nvSpPr>
        <p:spPr>
          <a:xfrm>
            <a:off x="3407229" y="6324600"/>
            <a:ext cx="7620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0A5A5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6:45 AM</a:t>
            </a:r>
            <a:endParaRPr lang="en-US" sz="780" dirty="0"/>
          </a:p>
        </p:txBody>
      </p:sp>
      <p:sp>
        <p:nvSpPr>
          <p:cNvPr id="106" name="Text 104"/>
          <p:cNvSpPr/>
          <p:nvPr/>
        </p:nvSpPr>
        <p:spPr>
          <a:xfrm>
            <a:off x="8107680" y="2133600"/>
            <a:ext cx="3048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2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96</a:t>
            </a:r>
            <a:pPr indent="0" marL="0">
              <a:buNone/>
            </a:pPr>
            <a:r>
              <a:rPr lang="en-US" sz="2520" dirty="0">
                <a:solidFill>
                  <a:srgbClr val="8A81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%</a:t>
            </a:r>
            <a:endParaRPr lang="en-US" sz="5520" dirty="0"/>
          </a:p>
        </p:txBody>
      </p:sp>
      <p:sp>
        <p:nvSpPr>
          <p:cNvPr id="107" name="Text 105"/>
          <p:cNvSpPr/>
          <p:nvPr/>
        </p:nvSpPr>
        <p:spPr>
          <a:xfrm>
            <a:off x="8107680" y="3048000"/>
            <a:ext cx="3048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spc="220" kern="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SURE ABOUT DADAJI'S BATH</a:t>
            </a:r>
            <a:endParaRPr lang="en-US" sz="720" dirty="0"/>
          </a:p>
        </p:txBody>
      </p:sp>
      <p:sp>
        <p:nvSpPr>
          <p:cNvPr id="108" name="Shape 106"/>
          <p:cNvSpPr/>
          <p:nvPr/>
        </p:nvSpPr>
        <p:spPr>
          <a:xfrm>
            <a:off x="8107680" y="3581400"/>
            <a:ext cx="30480" cy="594360"/>
          </a:xfrm>
          <a:prstGeom prst="roundRect">
            <a:avLst>
              <a:gd name="adj" fmla="val 30000"/>
            </a:avLst>
          </a:prstGeom>
          <a:solidFill>
            <a:srgbClr val="0E7C72"/>
          </a:solidFill>
          <a:ln/>
        </p:spPr>
      </p:sp>
      <p:sp>
        <p:nvSpPr>
          <p:cNvPr id="109" name="Text 107"/>
          <p:cNvSpPr/>
          <p:nvPr/>
        </p:nvSpPr>
        <p:spPr>
          <a:xfrm>
            <a:off x="8260080" y="3566160"/>
            <a:ext cx="2895600" cy="655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2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14 — </a:t>
            </a:r>
            <a:pPr indent="0" marL="0">
              <a:lnSpc>
                <a:spcPct val="120000"/>
              </a:lnSpc>
              <a:buNone/>
            </a:pPr>
            <a:r>
              <a:rPr lang="en-US" sz="1020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she's sure now. Dadaji bathes at </a:t>
            </a:r>
            <a:pPr indent="0" marL="0">
              <a:lnSpc>
                <a:spcPct val="120000"/>
              </a:lnSpc>
              <a:buNone/>
            </a:pPr>
            <a:r>
              <a:rPr lang="en-US" sz="102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6:45</a:t>
            </a:r>
            <a:pPr indent="0" marL="0">
              <a:lnSpc>
                <a:spcPct val="120000"/>
              </a:lnSpc>
              <a:buNone/>
            </a:pPr>
            <a:r>
              <a:rPr lang="en-US" sz="1020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every weekday.</a:t>
            </a:r>
            <a:endParaRPr lang="en-US" sz="1020" dirty="0"/>
          </a:p>
        </p:txBody>
      </p:sp>
      <p:sp>
        <p:nvSpPr>
          <p:cNvPr id="110" name="Shape 108"/>
          <p:cNvSpPr/>
          <p:nvPr/>
        </p:nvSpPr>
        <p:spPr>
          <a:xfrm>
            <a:off x="8107680" y="4343400"/>
            <a:ext cx="30480" cy="594360"/>
          </a:xfrm>
          <a:prstGeom prst="roundRect">
            <a:avLst>
              <a:gd name="adj" fmla="val 30000"/>
            </a:avLst>
          </a:prstGeom>
          <a:solidFill>
            <a:srgbClr val="C77414"/>
          </a:solidFill>
          <a:ln/>
        </p:spPr>
      </p:sp>
      <p:sp>
        <p:nvSpPr>
          <p:cNvPr id="111" name="Text 109"/>
          <p:cNvSpPr/>
          <p:nvPr/>
        </p:nvSpPr>
        <p:spPr>
          <a:xfrm>
            <a:off x="8260080" y="4328160"/>
            <a:ext cx="2895600" cy="655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20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Sundays? </a:t>
            </a:r>
            <a:pPr indent="0" marL="0">
              <a:lnSpc>
                <a:spcPct val="120000"/>
              </a:lnSpc>
              <a:buNone/>
            </a:pPr>
            <a:r>
              <a:rPr lang="en-US" sz="102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Around 8.</a:t>
            </a:r>
            <a:pPr indent="0" marL="0">
              <a:lnSpc>
                <a:spcPct val="120000"/>
              </a:lnSpc>
              <a:buNone/>
            </a:pPr>
            <a:r>
              <a:rPr lang="en-US" sz="1020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She knows that too.</a:t>
            </a:r>
            <a:endParaRPr lang="en-US" sz="1020" dirty="0"/>
          </a:p>
        </p:txBody>
      </p:sp>
      <p:sp>
        <p:nvSpPr>
          <p:cNvPr id="112" name="Shape 110"/>
          <p:cNvSpPr/>
          <p:nvPr/>
        </p:nvSpPr>
        <p:spPr>
          <a:xfrm>
            <a:off x="8107680" y="5105400"/>
            <a:ext cx="30480" cy="594360"/>
          </a:xfrm>
          <a:prstGeom prst="roundRect">
            <a:avLst>
              <a:gd name="adj" fmla="val 30000"/>
            </a:avLst>
          </a:prstGeom>
          <a:solidFill>
            <a:srgbClr val="0E7C72"/>
          </a:solidFill>
          <a:ln/>
        </p:spPr>
      </p:sp>
      <p:sp>
        <p:nvSpPr>
          <p:cNvPr id="113" name="Text 111"/>
          <p:cNvSpPr/>
          <p:nvPr/>
        </p:nvSpPr>
        <p:spPr>
          <a:xfrm>
            <a:off x="8260080" y="5090160"/>
            <a:ext cx="2895600" cy="655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20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one told her. She just </a:t>
            </a:r>
            <a:pPr indent="0" marL="0">
              <a:lnSpc>
                <a:spcPct val="120000"/>
              </a:lnSpc>
              <a:buNone/>
            </a:pPr>
            <a:r>
              <a:rPr lang="en-US" sz="102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watched the geyser.</a:t>
            </a:r>
            <a:endParaRPr lang="en-US" sz="1020" dirty="0"/>
          </a:p>
        </p:txBody>
      </p:sp>
      <p:sp>
        <p:nvSpPr>
          <p:cNvPr id="114" name="Text 112"/>
          <p:cNvSpPr/>
          <p:nvPr/>
        </p:nvSpPr>
        <p:spPr>
          <a:xfrm>
            <a:off x="10972800" y="6461760"/>
            <a:ext cx="9144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spc="150" kern="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/ 9</a:t>
            </a:r>
            <a:endParaRPr lang="en-US" sz="78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1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640080"/>
            <a:ext cx="533400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C77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 NEED AS A CUSTOMER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66800" y="929640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2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Four things a family would </a:t>
            </a:r>
            <a:pPr indent="0" marL="0">
              <a:buNone/>
            </a:pPr>
            <a:r>
              <a:rPr lang="en-US" sz="3720" i="1" dirty="0">
                <a:solidFill>
                  <a:srgbClr val="0E7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actually ask for</a:t>
            </a:r>
            <a:pPr indent="0" marL="0">
              <a:buNone/>
            </a:pPr>
            <a:r>
              <a:rPr lang="en-US" sz="372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.</a:t>
            </a:r>
            <a:endParaRPr lang="en-US" sz="3720" dirty="0"/>
          </a:p>
        </p:txBody>
      </p:sp>
      <p:sp>
        <p:nvSpPr>
          <p:cNvPr id="4" name="Text 2"/>
          <p:cNvSpPr/>
          <p:nvPr/>
        </p:nvSpPr>
        <p:spPr>
          <a:xfrm>
            <a:off x="1066800" y="2042160"/>
            <a:ext cx="396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80" dirty="0">
                <a:solidFill>
                  <a:srgbClr val="C7741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“</a:t>
            </a:r>
            <a:pPr indent="0" marL="0">
              <a:buNone/>
            </a:pPr>
            <a:r>
              <a:rPr lang="en-US" sz="168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It should already be ready.</a:t>
            </a:r>
            <a:pPr indent="0" marL="0">
              <a:buNone/>
            </a:pPr>
            <a:r>
              <a:rPr lang="en-US" sz="1680" dirty="0">
                <a:solidFill>
                  <a:srgbClr val="C7741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”</a:t>
            </a:r>
            <a:endParaRPr lang="en-US" sz="1680" dirty="0"/>
          </a:p>
        </p:txBody>
      </p:sp>
      <p:sp>
        <p:nvSpPr>
          <p:cNvPr id="5" name="Text 3"/>
          <p:cNvSpPr/>
          <p:nvPr/>
        </p:nvSpPr>
        <p:spPr>
          <a:xfrm>
            <a:off x="5562600" y="2026920"/>
            <a:ext cx="5562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2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 acts ahead of the routine</a:t>
            </a:r>
            <a:pPr indent="0" marL="0">
              <a:lnSpc>
                <a:spcPct val="125000"/>
              </a:lnSpc>
              <a:buNone/>
            </a:pPr>
            <a:r>
              <a:rPr lang="en-US" sz="102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the geyser is hot before the 6:45 bath, the living room is cool before Rajesh walks in. Zero commands for the daily rhythm.</a:t>
            </a:r>
            <a:endParaRPr lang="en-US" sz="1020" dirty="0"/>
          </a:p>
        </p:txBody>
      </p:sp>
      <p:sp>
        <p:nvSpPr>
          <p:cNvPr id="6" name="Shape 4"/>
          <p:cNvSpPr/>
          <p:nvPr/>
        </p:nvSpPr>
        <p:spPr>
          <a:xfrm>
            <a:off x="1066800" y="2819400"/>
            <a:ext cx="10058400" cy="0"/>
          </a:xfrm>
          <a:prstGeom prst="line">
            <a:avLst/>
          </a:prstGeom>
          <a:noFill/>
          <a:ln w="12700">
            <a:solidFill>
              <a:srgbClr val="DDD2B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66800" y="2971800"/>
            <a:ext cx="396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80" dirty="0">
                <a:solidFill>
                  <a:srgbClr val="C7741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“</a:t>
            </a:r>
            <a:pPr indent="0" marL="0">
              <a:buNone/>
            </a:pPr>
            <a:r>
              <a:rPr lang="en-US" sz="168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It should understand my home.</a:t>
            </a:r>
            <a:pPr indent="0" marL="0">
              <a:buNone/>
            </a:pPr>
            <a:r>
              <a:rPr lang="en-US" sz="1680" dirty="0">
                <a:solidFill>
                  <a:srgbClr val="C7741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”</a:t>
            </a:r>
            <a:endParaRPr lang="en-US" sz="1680" dirty="0"/>
          </a:p>
        </p:txBody>
      </p:sp>
      <p:sp>
        <p:nvSpPr>
          <p:cNvPr id="8" name="Text 6"/>
          <p:cNvSpPr/>
          <p:nvPr/>
        </p:nvSpPr>
        <p:spPr>
          <a:xfrm>
            <a:off x="5562600" y="2956560"/>
            <a:ext cx="5562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2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India-first context, not hardcoded rules</a:t>
            </a:r>
            <a:pPr indent="0" marL="0">
              <a:lnSpc>
                <a:spcPct val="125000"/>
              </a:lnSpc>
              <a:buNone/>
            </a:pPr>
            <a:r>
              <a:rPr lang="en-US" sz="102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pooja mornings, tariff windows, power cuts, tuition hours all ride into the reasoning as context it actually weighs.</a:t>
            </a:r>
            <a:endParaRPr lang="en-US" sz="1020" dirty="0"/>
          </a:p>
        </p:txBody>
      </p:sp>
      <p:sp>
        <p:nvSpPr>
          <p:cNvPr id="9" name="Shape 7"/>
          <p:cNvSpPr/>
          <p:nvPr/>
        </p:nvSpPr>
        <p:spPr>
          <a:xfrm>
            <a:off x="1066800" y="3749040"/>
            <a:ext cx="10058400" cy="0"/>
          </a:xfrm>
          <a:prstGeom prst="line">
            <a:avLst/>
          </a:prstGeom>
          <a:noFill/>
          <a:ln w="12700">
            <a:solidFill>
              <a:srgbClr val="DDD2B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6800" y="3901440"/>
            <a:ext cx="396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80" dirty="0">
                <a:solidFill>
                  <a:srgbClr val="C7741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“</a:t>
            </a:r>
            <a:pPr indent="0" marL="0">
              <a:buNone/>
            </a:pPr>
            <a:r>
              <a:rPr lang="en-US" sz="168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It should never overreach.</a:t>
            </a:r>
            <a:pPr indent="0" marL="0">
              <a:buNone/>
            </a:pPr>
            <a:r>
              <a:rPr lang="en-US" sz="1680" dirty="0">
                <a:solidFill>
                  <a:srgbClr val="C7741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”</a:t>
            </a:r>
            <a:endParaRPr lang="en-US" sz="1680" dirty="0"/>
          </a:p>
        </p:txBody>
      </p:sp>
      <p:sp>
        <p:nvSpPr>
          <p:cNvPr id="11" name="Text 9"/>
          <p:cNvSpPr/>
          <p:nvPr/>
        </p:nvSpPr>
        <p:spPr>
          <a:xfrm>
            <a:off x="5562600" y="3886200"/>
            <a:ext cx="5562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2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Autonomy is graduated and earned</a:t>
            </a:r>
            <a:pPr indent="0" marL="0">
              <a:lnSpc>
                <a:spcPct val="125000"/>
              </a:lnSpc>
              <a:buNone/>
            </a:pPr>
            <a:r>
              <a:rPr lang="en-US" sz="102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five trust tiers per device category; one override immediately lowers what it may do on its own.</a:t>
            </a:r>
            <a:endParaRPr lang="en-US" sz="1020" dirty="0"/>
          </a:p>
        </p:txBody>
      </p:sp>
      <p:sp>
        <p:nvSpPr>
          <p:cNvPr id="12" name="Shape 10"/>
          <p:cNvSpPr/>
          <p:nvPr/>
        </p:nvSpPr>
        <p:spPr>
          <a:xfrm>
            <a:off x="1066800" y="4678680"/>
            <a:ext cx="10058400" cy="0"/>
          </a:xfrm>
          <a:prstGeom prst="line">
            <a:avLst/>
          </a:prstGeom>
          <a:noFill/>
          <a:ln w="12700">
            <a:solidFill>
              <a:srgbClr val="DDD2B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66800" y="4831080"/>
            <a:ext cx="396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80" dirty="0">
                <a:solidFill>
                  <a:srgbClr val="C7741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“</a:t>
            </a:r>
            <a:pPr indent="0" marL="0">
              <a:buNone/>
            </a:pPr>
            <a:r>
              <a:rPr lang="en-US" sz="168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It should explain itself.</a:t>
            </a:r>
            <a:pPr indent="0" marL="0">
              <a:buNone/>
            </a:pPr>
            <a:r>
              <a:rPr lang="en-US" sz="1680" dirty="0">
                <a:solidFill>
                  <a:srgbClr val="C77414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”</a:t>
            </a:r>
            <a:endParaRPr lang="en-US" sz="1680" dirty="0"/>
          </a:p>
        </p:txBody>
      </p:sp>
      <p:sp>
        <p:nvSpPr>
          <p:cNvPr id="14" name="Text 12"/>
          <p:cNvSpPr/>
          <p:nvPr/>
        </p:nvSpPr>
        <p:spPr>
          <a:xfrm>
            <a:off x="5562600" y="4815840"/>
            <a:ext cx="5562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2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action ships with a plain-language reason</a:t>
            </a:r>
            <a:pPr indent="0" marL="0">
              <a:lnSpc>
                <a:spcPct val="125000"/>
              </a:lnSpc>
              <a:buNone/>
            </a:pPr>
            <a:r>
              <a:rPr lang="en-US" sz="102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"pre-heating the geyser at 05:15, the family wakes around 06:00" — and a one-tap Override.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1066800" y="5608320"/>
            <a:ext cx="10058400" cy="0"/>
          </a:xfrm>
          <a:prstGeom prst="line">
            <a:avLst/>
          </a:prstGeom>
          <a:noFill/>
          <a:ln w="12700">
            <a:solidFill>
              <a:srgbClr val="DDD2B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972800" y="6461760"/>
            <a:ext cx="9144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spc="150" kern="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/ 9</a:t>
            </a:r>
            <a:endParaRPr lang="en-US" sz="78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1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563880"/>
            <a:ext cx="12191695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50" kern="0" dirty="0">
                <a:solidFill>
                  <a:srgbClr val="C77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LIVE DEMO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0" y="853440"/>
            <a:ext cx="12191695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8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One day in an </a:t>
            </a:r>
            <a:pPr algn="ctr" indent="0" marL="0">
              <a:buNone/>
            </a:pPr>
            <a:r>
              <a:rPr lang="en-US" sz="3480" i="1" dirty="0">
                <a:solidFill>
                  <a:srgbClr val="0E7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Indian home</a:t>
            </a:r>
            <a:pPr algn="ctr" indent="0" marL="0">
              <a:buNone/>
            </a:pPr>
            <a:r>
              <a:rPr lang="en-US" sz="348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.</a:t>
            </a:r>
            <a:endParaRPr lang="en-US" sz="3480" dirty="0"/>
          </a:p>
        </p:txBody>
      </p:sp>
      <p:sp>
        <p:nvSpPr>
          <p:cNvPr id="4" name="Shape 2"/>
          <p:cNvSpPr/>
          <p:nvPr/>
        </p:nvSpPr>
        <p:spPr>
          <a:xfrm>
            <a:off x="1333500" y="1905000"/>
            <a:ext cx="9525000" cy="4324111"/>
          </a:xfrm>
          <a:prstGeom prst="rect">
            <a:avLst/>
          </a:prstGeom>
          <a:solidFill>
            <a:srgbClr val="1D1A15"/>
          </a:solidFill>
          <a:ln/>
          <a:effectLst>
            <a:outerShdw sx="100000" sy="100000" kx="0" ky="0" algn="bl" rotWithShape="0" blurRad="279400" dist="76200" dir="5400000">
              <a:srgbClr val="3C301A">
                <a:alpha val="30000"/>
              </a:srgbClr>
            </a:outerShdw>
          </a:effectLst>
        </p:spPr>
      </p:sp>
      <p:pic>
        <p:nvPicPr>
          <p:cNvPr id="3" name="Media 0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1333500" y="1905000"/>
            <a:ext cx="9525000" cy="4324111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972800" y="6461760"/>
            <a:ext cx="9144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spc="150" kern="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/ 9</a:t>
            </a:r>
            <a:endParaRPr lang="en-US" sz="78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1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426720"/>
            <a:ext cx="533400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C77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 ARCHITECTURE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66800" y="701040"/>
            <a:ext cx="10134600" cy="441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2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A routine model that knows the house, an LLM that knows </a:t>
            </a:r>
            <a:pPr indent="0" marL="0">
              <a:buNone/>
            </a:pPr>
            <a:r>
              <a:rPr lang="en-US" sz="2520" i="1" dirty="0">
                <a:solidFill>
                  <a:srgbClr val="0E7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today</a:t>
            </a:r>
            <a:pPr indent="0" marL="0">
              <a:buNone/>
            </a:pPr>
            <a:r>
              <a:rPr lang="en-US" sz="252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.</a:t>
            </a:r>
            <a:endParaRPr lang="en-US" sz="2520" dirty="0"/>
          </a:p>
        </p:txBody>
      </p:sp>
      <p:sp>
        <p:nvSpPr>
          <p:cNvPr id="4" name="Text 2"/>
          <p:cNvSpPr/>
          <p:nvPr/>
        </p:nvSpPr>
        <p:spPr>
          <a:xfrm>
            <a:off x="1066800" y="1173480"/>
            <a:ext cx="101346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timescales, one decision — slow-learned trends meet today’s context inside the reasoning core.</a:t>
            </a:r>
            <a:endParaRPr lang="en-US" sz="1020" dirty="0"/>
          </a:p>
        </p:txBody>
      </p:sp>
      <p:sp>
        <p:nvSpPr>
          <p:cNvPr id="5" name="Text 3"/>
          <p:cNvSpPr/>
          <p:nvPr/>
        </p:nvSpPr>
        <p:spPr>
          <a:xfrm>
            <a:off x="1066800" y="1600200"/>
            <a:ext cx="4572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0E7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REAL-TIME — THE DECISION PATH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1066800" y="1859280"/>
            <a:ext cx="1828800" cy="1295400"/>
          </a:xfrm>
          <a:prstGeom prst="roundRect">
            <a:avLst>
              <a:gd name="adj" fmla="val 8471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066800" y="1859280"/>
            <a:ext cx="1828800" cy="53340"/>
          </a:xfrm>
          <a:prstGeom prst="roundRect">
            <a:avLst>
              <a:gd name="adj" fmla="val 34286"/>
            </a:avLst>
          </a:prstGeom>
          <a:solidFill>
            <a:srgbClr val="0E7C72"/>
          </a:solidFill>
          <a:ln/>
        </p:spPr>
      </p:sp>
      <p:sp>
        <p:nvSpPr>
          <p:cNvPr id="8" name="Text 6"/>
          <p:cNvSpPr/>
          <p:nvPr/>
        </p:nvSpPr>
        <p:spPr>
          <a:xfrm>
            <a:off x="1219200" y="1981200"/>
            <a:ext cx="1524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spc="180" kern="0" dirty="0">
                <a:solidFill>
                  <a:srgbClr val="0E7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· CAPTURE</a:t>
            </a:r>
            <a:endParaRPr lang="en-US" sz="690" dirty="0"/>
          </a:p>
        </p:txBody>
      </p:sp>
      <p:sp>
        <p:nvSpPr>
          <p:cNvPr id="9" name="Text 7"/>
          <p:cNvSpPr/>
          <p:nvPr/>
        </p:nvSpPr>
        <p:spPr>
          <a:xfrm>
            <a:off x="1219200" y="2148840"/>
            <a:ext cx="15697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Home events</a:t>
            </a:r>
            <a:endParaRPr lang="en-US" sz="960" dirty="0"/>
          </a:p>
        </p:txBody>
      </p:sp>
      <p:sp>
        <p:nvSpPr>
          <p:cNvPr id="10" name="Text 8"/>
          <p:cNvSpPr/>
          <p:nvPr/>
        </p:nvSpPr>
        <p:spPr>
          <a:xfrm>
            <a:off x="1219200" y="2377440"/>
            <a:ext cx="1569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 left or arrived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lights &amp; appliances on/off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geyser · AC · motor usage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temperature &amp; occupancy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voice interactions</a:t>
            </a:r>
            <a:endParaRPr lang="en-US" sz="780" dirty="0"/>
          </a:p>
        </p:txBody>
      </p:sp>
      <p:sp>
        <p:nvSpPr>
          <p:cNvPr id="11" name="Shape 9"/>
          <p:cNvSpPr/>
          <p:nvPr/>
        </p:nvSpPr>
        <p:spPr>
          <a:xfrm>
            <a:off x="3352800" y="1996440"/>
            <a:ext cx="1409700" cy="1021080"/>
          </a:xfrm>
          <a:prstGeom prst="roundRect">
            <a:avLst>
              <a:gd name="adj" fmla="val 10746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352800" y="1996440"/>
            <a:ext cx="1409700" cy="53340"/>
          </a:xfrm>
          <a:prstGeom prst="roundRect">
            <a:avLst>
              <a:gd name="adj" fmla="val 34286"/>
            </a:avLst>
          </a:prstGeom>
          <a:solidFill>
            <a:srgbClr val="0E7C72"/>
          </a:solidFill>
          <a:ln/>
        </p:spPr>
      </p:sp>
      <p:sp>
        <p:nvSpPr>
          <p:cNvPr id="13" name="Text 11"/>
          <p:cNvSpPr/>
          <p:nvPr/>
        </p:nvSpPr>
        <p:spPr>
          <a:xfrm>
            <a:off x="3505200" y="2118360"/>
            <a:ext cx="11049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spc="180" kern="0" dirty="0">
                <a:solidFill>
                  <a:srgbClr val="0E7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· INGEST</a:t>
            </a:r>
            <a:endParaRPr lang="en-US" sz="690" dirty="0"/>
          </a:p>
        </p:txBody>
      </p:sp>
      <p:sp>
        <p:nvSpPr>
          <p:cNvPr id="14" name="Text 12"/>
          <p:cNvSpPr/>
          <p:nvPr/>
        </p:nvSpPr>
        <p:spPr>
          <a:xfrm>
            <a:off x="3505200" y="2286000"/>
            <a:ext cx="11506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Event stream</a:t>
            </a:r>
            <a:endParaRPr lang="en-US" sz="960" dirty="0"/>
          </a:p>
        </p:txBody>
      </p:sp>
      <p:sp>
        <p:nvSpPr>
          <p:cNvPr id="15" name="Text 13"/>
          <p:cNvSpPr/>
          <p:nvPr/>
        </p:nvSpPr>
        <p:spPr>
          <a:xfrm>
            <a:off x="3505200" y="2514600"/>
            <a:ext cx="11506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validate &amp; de-duplicate,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enrich with device,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member, room, time</a:t>
            </a:r>
            <a:endParaRPr lang="en-US" sz="780" dirty="0"/>
          </a:p>
        </p:txBody>
      </p:sp>
      <p:sp>
        <p:nvSpPr>
          <p:cNvPr id="16" name="Shape 14"/>
          <p:cNvSpPr/>
          <p:nvPr/>
        </p:nvSpPr>
        <p:spPr>
          <a:xfrm>
            <a:off x="5219700" y="1996440"/>
            <a:ext cx="1447800" cy="1021080"/>
          </a:xfrm>
          <a:prstGeom prst="roundRect">
            <a:avLst>
              <a:gd name="adj" fmla="val 10746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219700" y="1996440"/>
            <a:ext cx="1447800" cy="53340"/>
          </a:xfrm>
          <a:prstGeom prst="roundRect">
            <a:avLst>
              <a:gd name="adj" fmla="val 34286"/>
            </a:avLst>
          </a:prstGeom>
          <a:solidFill>
            <a:srgbClr val="0E7C72"/>
          </a:solidFill>
          <a:ln/>
        </p:spPr>
      </p:sp>
      <p:sp>
        <p:nvSpPr>
          <p:cNvPr id="18" name="Text 16"/>
          <p:cNvSpPr/>
          <p:nvPr/>
        </p:nvSpPr>
        <p:spPr>
          <a:xfrm>
            <a:off x="5372100" y="2118360"/>
            <a:ext cx="1143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spc="180" kern="0" dirty="0">
                <a:solidFill>
                  <a:srgbClr val="0E7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· STORE</a:t>
            </a:r>
            <a:endParaRPr lang="en-US" sz="690" dirty="0"/>
          </a:p>
        </p:txBody>
      </p:sp>
      <p:sp>
        <p:nvSpPr>
          <p:cNvPr id="19" name="Text 17"/>
          <p:cNvSpPr/>
          <p:nvPr/>
        </p:nvSpPr>
        <p:spPr>
          <a:xfrm>
            <a:off x="5372100" y="2286000"/>
            <a:ext cx="11887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Time-series DB</a:t>
            </a:r>
            <a:endParaRPr lang="en-US" sz="960" dirty="0"/>
          </a:p>
        </p:txBody>
      </p:sp>
      <p:sp>
        <p:nvSpPr>
          <p:cNvPr id="20" name="Text 18"/>
          <p:cNvSpPr/>
          <p:nvPr/>
        </p:nvSpPr>
        <p:spPr>
          <a:xfrm>
            <a:off x="5372100" y="251460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raw event log —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months of the home's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own history</a:t>
            </a:r>
            <a:endParaRPr lang="en-US" sz="780" dirty="0"/>
          </a:p>
        </p:txBody>
      </p:sp>
      <p:sp>
        <p:nvSpPr>
          <p:cNvPr id="21" name="Shape 19"/>
          <p:cNvSpPr/>
          <p:nvPr/>
        </p:nvSpPr>
        <p:spPr>
          <a:xfrm>
            <a:off x="7124700" y="1859280"/>
            <a:ext cx="2019300" cy="1295400"/>
          </a:xfrm>
          <a:prstGeom prst="roundRect">
            <a:avLst>
              <a:gd name="adj" fmla="val 8471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124700" y="1859280"/>
            <a:ext cx="2019300" cy="53340"/>
          </a:xfrm>
          <a:prstGeom prst="roundRect">
            <a:avLst>
              <a:gd name="adj" fmla="val 34286"/>
            </a:avLst>
          </a:prstGeom>
          <a:solidFill>
            <a:srgbClr val="7A4FB3"/>
          </a:solidFill>
          <a:ln/>
        </p:spPr>
      </p:sp>
      <p:sp>
        <p:nvSpPr>
          <p:cNvPr id="23" name="Text 21"/>
          <p:cNvSpPr/>
          <p:nvPr/>
        </p:nvSpPr>
        <p:spPr>
          <a:xfrm>
            <a:off x="7277100" y="1981200"/>
            <a:ext cx="17145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spc="180" kern="0" dirty="0">
                <a:solidFill>
                  <a:srgbClr val="7A4FB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· REASONING CORE</a:t>
            </a:r>
            <a:endParaRPr lang="en-US" sz="690" dirty="0"/>
          </a:p>
        </p:txBody>
      </p:sp>
      <p:sp>
        <p:nvSpPr>
          <p:cNvPr id="24" name="Text 22"/>
          <p:cNvSpPr/>
          <p:nvPr/>
        </p:nvSpPr>
        <p:spPr>
          <a:xfrm>
            <a:off x="7277100" y="2148840"/>
            <a:ext cx="17602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Amazon Bedrock — Claude</a:t>
            </a:r>
            <a:endParaRPr lang="en-US" sz="960" dirty="0"/>
          </a:p>
        </p:txBody>
      </p:sp>
      <p:sp>
        <p:nvSpPr>
          <p:cNvPr id="25" name="Text 23"/>
          <p:cNvSpPr/>
          <p:nvPr/>
        </p:nvSpPr>
        <p:spPr>
          <a:xfrm>
            <a:off x="7277100" y="2377440"/>
            <a:ext cx="17602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learned patterns + today's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context → "what should the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home do next, and why" —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Alexa+ pattern</a:t>
            </a:r>
            <a:endParaRPr lang="en-US" sz="780" dirty="0"/>
          </a:p>
        </p:txBody>
      </p:sp>
      <p:sp>
        <p:nvSpPr>
          <p:cNvPr id="26" name="Shape 24"/>
          <p:cNvSpPr/>
          <p:nvPr/>
        </p:nvSpPr>
        <p:spPr>
          <a:xfrm>
            <a:off x="9601200" y="1859280"/>
            <a:ext cx="1524000" cy="1295400"/>
          </a:xfrm>
          <a:prstGeom prst="roundRect">
            <a:avLst>
              <a:gd name="adj" fmla="val 8471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9601200" y="1859280"/>
            <a:ext cx="1524000" cy="53340"/>
          </a:xfrm>
          <a:prstGeom prst="roundRect">
            <a:avLst>
              <a:gd name="adj" fmla="val 34286"/>
            </a:avLst>
          </a:prstGeom>
          <a:solidFill>
            <a:srgbClr val="221E17"/>
          </a:solidFill>
          <a:ln/>
        </p:spPr>
      </p:sp>
      <p:sp>
        <p:nvSpPr>
          <p:cNvPr id="28" name="Text 26"/>
          <p:cNvSpPr/>
          <p:nvPr/>
        </p:nvSpPr>
        <p:spPr>
          <a:xfrm>
            <a:off x="9753600" y="1981200"/>
            <a:ext cx="1219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spc="180" kern="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· TRUST GATE</a:t>
            </a:r>
            <a:endParaRPr lang="en-US" sz="690" dirty="0"/>
          </a:p>
        </p:txBody>
      </p:sp>
      <p:sp>
        <p:nvSpPr>
          <p:cNvPr id="29" name="Text 27"/>
          <p:cNvSpPr/>
          <p:nvPr/>
        </p:nvSpPr>
        <p:spPr>
          <a:xfrm>
            <a:off x="9753600" y="2148840"/>
            <a:ext cx="12649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Safety &amp; permissions</a:t>
            </a:r>
            <a:endParaRPr lang="en-US" sz="960" dirty="0"/>
          </a:p>
        </p:txBody>
      </p:sp>
      <p:sp>
        <p:nvSpPr>
          <p:cNvPr id="30" name="Text 28"/>
          <p:cNvSpPr/>
          <p:nvPr/>
        </p:nvSpPr>
        <p:spPr>
          <a:xfrm>
            <a:off x="9753600" y="2377440"/>
            <a:ext cx="1264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confidence score ×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earned trust tier →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 · suggest ·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stay silent</a:t>
            </a:r>
            <a:endParaRPr lang="en-US" sz="780" dirty="0"/>
          </a:p>
        </p:txBody>
      </p:sp>
      <p:sp>
        <p:nvSpPr>
          <p:cNvPr id="31" name="Shape 29"/>
          <p:cNvSpPr/>
          <p:nvPr/>
        </p:nvSpPr>
        <p:spPr>
          <a:xfrm>
            <a:off x="2895600" y="2514600"/>
            <a:ext cx="411480" cy="0"/>
          </a:xfrm>
          <a:prstGeom prst="line">
            <a:avLst/>
          </a:prstGeom>
          <a:noFill/>
          <a:ln w="20320">
            <a:solidFill>
              <a:srgbClr val="0E7C72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4762500" y="2514600"/>
            <a:ext cx="411480" cy="0"/>
          </a:xfrm>
          <a:prstGeom prst="line">
            <a:avLst/>
          </a:prstGeom>
          <a:noFill/>
          <a:ln w="20320">
            <a:solidFill>
              <a:srgbClr val="0E7C72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6667500" y="2362200"/>
            <a:ext cx="411480" cy="0"/>
          </a:xfrm>
          <a:prstGeom prst="line">
            <a:avLst/>
          </a:prstGeom>
          <a:noFill/>
          <a:ln w="20320">
            <a:solidFill>
              <a:srgbClr val="0E7C72"/>
            </a:solidFill>
            <a:prstDash val="solid"/>
            <a:tailEnd type="triangle"/>
          </a:ln>
        </p:spPr>
      </p:sp>
      <p:sp>
        <p:nvSpPr>
          <p:cNvPr id="34" name="Text 32"/>
          <p:cNvSpPr/>
          <p:nvPr/>
        </p:nvSpPr>
        <p:spPr>
          <a:xfrm>
            <a:off x="6416040" y="1920240"/>
            <a:ext cx="9144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750" b="1" dirty="0">
                <a:solidFill>
                  <a:srgbClr val="0A5A5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recent</a:t>
            </a:r>
            <a:endParaRPr lang="en-US" sz="7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750" b="1" dirty="0">
                <a:solidFill>
                  <a:srgbClr val="0A5A5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context</a:t>
            </a:r>
            <a:endParaRPr lang="en-US" sz="750" dirty="0"/>
          </a:p>
        </p:txBody>
      </p:sp>
      <p:sp>
        <p:nvSpPr>
          <p:cNvPr id="35" name="Shape 33"/>
          <p:cNvSpPr/>
          <p:nvPr/>
        </p:nvSpPr>
        <p:spPr>
          <a:xfrm>
            <a:off x="9144000" y="2286000"/>
            <a:ext cx="411480" cy="0"/>
          </a:xfrm>
          <a:prstGeom prst="line">
            <a:avLst/>
          </a:prstGeom>
          <a:noFill/>
          <a:ln w="20320">
            <a:solidFill>
              <a:srgbClr val="0E7C72"/>
            </a:solidFill>
            <a:prstDash val="solid"/>
            <a:tailEnd type="triangle"/>
          </a:ln>
        </p:spPr>
      </p:sp>
      <p:sp>
        <p:nvSpPr>
          <p:cNvPr id="36" name="Text 34"/>
          <p:cNvSpPr/>
          <p:nvPr/>
        </p:nvSpPr>
        <p:spPr>
          <a:xfrm>
            <a:off x="8892540" y="1889760"/>
            <a:ext cx="9144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750" b="1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action +</a:t>
            </a:r>
            <a:endParaRPr lang="en-US" sz="7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750" b="1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reason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10363200" y="3154680"/>
            <a:ext cx="0" cy="457200"/>
          </a:xfrm>
          <a:prstGeom prst="line">
            <a:avLst/>
          </a:prstGeom>
          <a:noFill/>
          <a:ln w="20320">
            <a:solidFill>
              <a:srgbClr val="0E7C72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9601200" y="3657600"/>
            <a:ext cx="1524000" cy="762000"/>
          </a:xfrm>
          <a:prstGeom prst="roundRect">
            <a:avLst>
              <a:gd name="adj" fmla="val 14400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9601200" y="3657600"/>
            <a:ext cx="1524000" cy="53340"/>
          </a:xfrm>
          <a:prstGeom prst="roundRect">
            <a:avLst>
              <a:gd name="adj" fmla="val 34286"/>
            </a:avLst>
          </a:prstGeom>
          <a:solidFill>
            <a:srgbClr val="0E7C72"/>
          </a:solidFill>
          <a:ln/>
        </p:spPr>
      </p:sp>
      <p:sp>
        <p:nvSpPr>
          <p:cNvPr id="40" name="Text 38"/>
          <p:cNvSpPr/>
          <p:nvPr/>
        </p:nvSpPr>
        <p:spPr>
          <a:xfrm>
            <a:off x="9753600" y="3779520"/>
            <a:ext cx="1219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spc="180" kern="0" dirty="0">
                <a:solidFill>
                  <a:srgbClr val="0E7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· ALEXA ACTS</a:t>
            </a:r>
            <a:endParaRPr lang="en-US" sz="690" dirty="0"/>
          </a:p>
        </p:txBody>
      </p:sp>
      <p:sp>
        <p:nvSpPr>
          <p:cNvPr id="41" name="Text 39"/>
          <p:cNvSpPr/>
          <p:nvPr/>
        </p:nvSpPr>
        <p:spPr>
          <a:xfrm>
            <a:off x="9753600" y="3947160"/>
            <a:ext cx="12649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Takes action</a:t>
            </a:r>
            <a:endParaRPr lang="en-US" sz="960" dirty="0"/>
          </a:p>
        </p:txBody>
      </p:sp>
      <p:sp>
        <p:nvSpPr>
          <p:cNvPr id="42" name="Text 40"/>
          <p:cNvSpPr/>
          <p:nvPr/>
        </p:nvSpPr>
        <p:spPr>
          <a:xfrm>
            <a:off x="9753600" y="4175760"/>
            <a:ext cx="12649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geyser, AC, lights, locks,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announcements</a:t>
            </a:r>
            <a:endParaRPr lang="en-US" sz="780" dirty="0"/>
          </a:p>
        </p:txBody>
      </p:sp>
      <p:sp>
        <p:nvSpPr>
          <p:cNvPr id="43" name="Shape 41"/>
          <p:cNvSpPr/>
          <p:nvPr/>
        </p:nvSpPr>
        <p:spPr>
          <a:xfrm>
            <a:off x="7124700" y="3657600"/>
            <a:ext cx="2019300" cy="762000"/>
          </a:xfrm>
          <a:prstGeom prst="roundRect">
            <a:avLst>
              <a:gd name="adj" fmla="val 14400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7124700" y="3657600"/>
            <a:ext cx="2019300" cy="53340"/>
          </a:xfrm>
          <a:prstGeom prst="roundRect">
            <a:avLst>
              <a:gd name="adj" fmla="val 34286"/>
            </a:avLst>
          </a:prstGeom>
          <a:solidFill>
            <a:srgbClr val="C77414"/>
          </a:solidFill>
          <a:ln/>
        </p:spPr>
      </p:sp>
      <p:sp>
        <p:nvSpPr>
          <p:cNvPr id="45" name="Text 43"/>
          <p:cNvSpPr/>
          <p:nvPr/>
        </p:nvSpPr>
        <p:spPr>
          <a:xfrm>
            <a:off x="7277100" y="3779520"/>
            <a:ext cx="17145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spc="180" kern="0" dirty="0">
                <a:solidFill>
                  <a:srgbClr val="C77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LIVE</a:t>
            </a:r>
            <a:endParaRPr lang="en-US" sz="690" dirty="0"/>
          </a:p>
        </p:txBody>
      </p:sp>
      <p:sp>
        <p:nvSpPr>
          <p:cNvPr id="46" name="Text 44"/>
          <p:cNvSpPr/>
          <p:nvPr/>
        </p:nvSpPr>
        <p:spPr>
          <a:xfrm>
            <a:off x="7277100" y="3947160"/>
            <a:ext cx="17602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Today's context</a:t>
            </a:r>
            <a:endParaRPr lang="en-US" sz="960" dirty="0"/>
          </a:p>
        </p:txBody>
      </p:sp>
      <p:sp>
        <p:nvSpPr>
          <p:cNvPr id="47" name="Text 45"/>
          <p:cNvSpPr/>
          <p:nvPr/>
        </p:nvSpPr>
        <p:spPr>
          <a:xfrm>
            <a:off x="7277100" y="4175760"/>
            <a:ext cx="17602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occupancy · festival or special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· tariff window · weather</a:t>
            </a:r>
            <a:endParaRPr lang="en-US" sz="780" dirty="0"/>
          </a:p>
        </p:txBody>
      </p:sp>
      <p:sp>
        <p:nvSpPr>
          <p:cNvPr id="48" name="Shape 46"/>
          <p:cNvSpPr/>
          <p:nvPr/>
        </p:nvSpPr>
        <p:spPr>
          <a:xfrm flipV="1">
            <a:off x="8130540" y="3200400"/>
            <a:ext cx="0" cy="457200"/>
          </a:xfrm>
          <a:prstGeom prst="line">
            <a:avLst/>
          </a:prstGeom>
          <a:noFill/>
          <a:ln w="20320">
            <a:solidFill>
              <a:srgbClr val="C77414"/>
            </a:solidFill>
            <a:prstDash val="solid"/>
            <a:tailEnd type="triangle"/>
          </a:ln>
        </p:spPr>
      </p:sp>
      <p:sp>
        <p:nvSpPr>
          <p:cNvPr id="49" name="Text 47"/>
          <p:cNvSpPr/>
          <p:nvPr/>
        </p:nvSpPr>
        <p:spPr>
          <a:xfrm>
            <a:off x="5029200" y="4678680"/>
            <a:ext cx="4572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C77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OFFLINE — LEARNING THE RHYTHM, NIGHTLY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3352800" y="4907280"/>
            <a:ext cx="1409700" cy="1066800"/>
          </a:xfrm>
          <a:prstGeom prst="roundRect">
            <a:avLst>
              <a:gd name="adj" fmla="val 10286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51" name="Shape 49"/>
          <p:cNvSpPr/>
          <p:nvPr/>
        </p:nvSpPr>
        <p:spPr>
          <a:xfrm>
            <a:off x="3352800" y="4907280"/>
            <a:ext cx="1409700" cy="53340"/>
          </a:xfrm>
          <a:prstGeom prst="roundRect">
            <a:avLst>
              <a:gd name="adj" fmla="val 34286"/>
            </a:avLst>
          </a:prstGeom>
          <a:solidFill>
            <a:srgbClr val="C77414"/>
          </a:solidFill>
          <a:ln/>
        </p:spPr>
      </p:sp>
      <p:sp>
        <p:nvSpPr>
          <p:cNvPr id="52" name="Text 50"/>
          <p:cNvSpPr/>
          <p:nvPr/>
        </p:nvSpPr>
        <p:spPr>
          <a:xfrm>
            <a:off x="3505200" y="5029200"/>
            <a:ext cx="11049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spc="180" kern="0" dirty="0">
                <a:solidFill>
                  <a:srgbClr val="C77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· PROCESS</a:t>
            </a:r>
            <a:endParaRPr lang="en-US" sz="690" dirty="0"/>
          </a:p>
        </p:txBody>
      </p:sp>
      <p:sp>
        <p:nvSpPr>
          <p:cNvPr id="53" name="Text 51"/>
          <p:cNvSpPr/>
          <p:nvPr/>
        </p:nvSpPr>
        <p:spPr>
          <a:xfrm>
            <a:off x="3505200" y="5196840"/>
            <a:ext cx="11506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Feature pipeline</a:t>
            </a:r>
            <a:endParaRPr lang="en-US" sz="960" dirty="0"/>
          </a:p>
        </p:txBody>
      </p:sp>
      <p:sp>
        <p:nvSpPr>
          <p:cNvPr id="54" name="Text 52"/>
          <p:cNvSpPr/>
          <p:nvPr/>
        </p:nvSpPr>
        <p:spPr>
          <a:xfrm>
            <a:off x="3505200" y="5425440"/>
            <a:ext cx="11506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clean &amp; sessionize by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time window; features: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time, season, occupancy</a:t>
            </a:r>
            <a:endParaRPr lang="en-US" sz="780" dirty="0"/>
          </a:p>
        </p:txBody>
      </p:sp>
      <p:sp>
        <p:nvSpPr>
          <p:cNvPr id="55" name="Shape 53"/>
          <p:cNvSpPr/>
          <p:nvPr/>
        </p:nvSpPr>
        <p:spPr>
          <a:xfrm>
            <a:off x="5219700" y="4907280"/>
            <a:ext cx="1447800" cy="1066800"/>
          </a:xfrm>
          <a:prstGeom prst="roundRect">
            <a:avLst>
              <a:gd name="adj" fmla="val 10286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56" name="Shape 54"/>
          <p:cNvSpPr/>
          <p:nvPr/>
        </p:nvSpPr>
        <p:spPr>
          <a:xfrm>
            <a:off x="5219700" y="4907280"/>
            <a:ext cx="1447800" cy="53340"/>
          </a:xfrm>
          <a:prstGeom prst="roundRect">
            <a:avLst>
              <a:gd name="adj" fmla="val 34286"/>
            </a:avLst>
          </a:prstGeom>
          <a:solidFill>
            <a:srgbClr val="C77414"/>
          </a:solidFill>
          <a:ln/>
        </p:spPr>
      </p:sp>
      <p:sp>
        <p:nvSpPr>
          <p:cNvPr id="57" name="Text 55"/>
          <p:cNvSpPr/>
          <p:nvPr/>
        </p:nvSpPr>
        <p:spPr>
          <a:xfrm>
            <a:off x="5372100" y="5029200"/>
            <a:ext cx="1143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spc="180" kern="0" dirty="0">
                <a:solidFill>
                  <a:srgbClr val="C77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· TRAIN</a:t>
            </a:r>
            <a:endParaRPr lang="en-US" sz="690" dirty="0"/>
          </a:p>
        </p:txBody>
      </p:sp>
      <p:sp>
        <p:nvSpPr>
          <p:cNvPr id="58" name="Text 56"/>
          <p:cNvSpPr/>
          <p:nvPr/>
        </p:nvSpPr>
        <p:spPr>
          <a:xfrm>
            <a:off x="5372100" y="5196840"/>
            <a:ext cx="11887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Routine model — DNN</a:t>
            </a:r>
            <a:endParaRPr lang="en-US" sz="960" dirty="0"/>
          </a:p>
        </p:txBody>
      </p:sp>
      <p:sp>
        <p:nvSpPr>
          <p:cNvPr id="59" name="Text 57"/>
          <p:cNvSpPr/>
          <p:nvPr/>
        </p:nvSpPr>
        <p:spPr>
          <a:xfrm>
            <a:off x="5372100" y="542544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sequence model over the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event series (LSTM /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Transformer)</a:t>
            </a:r>
            <a:endParaRPr lang="en-US" sz="780" dirty="0"/>
          </a:p>
        </p:txBody>
      </p:sp>
      <p:sp>
        <p:nvSpPr>
          <p:cNvPr id="60" name="Shape 58"/>
          <p:cNvSpPr/>
          <p:nvPr/>
        </p:nvSpPr>
        <p:spPr>
          <a:xfrm>
            <a:off x="5638800" y="3017520"/>
            <a:ext cx="0" cy="1600200"/>
          </a:xfrm>
          <a:prstGeom prst="line">
            <a:avLst/>
          </a:prstGeom>
          <a:noFill/>
          <a:ln w="20320">
            <a:solidFill>
              <a:srgbClr val="C77414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 flipH="1">
            <a:off x="4084320" y="4617720"/>
            <a:ext cx="1554480" cy="0"/>
          </a:xfrm>
          <a:prstGeom prst="line">
            <a:avLst/>
          </a:prstGeom>
          <a:noFill/>
          <a:ln w="20320">
            <a:solidFill>
              <a:srgbClr val="C77414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4084320" y="4617720"/>
            <a:ext cx="0" cy="243840"/>
          </a:xfrm>
          <a:prstGeom prst="line">
            <a:avLst/>
          </a:prstGeom>
          <a:noFill/>
          <a:ln w="20320">
            <a:solidFill>
              <a:srgbClr val="C77414"/>
            </a:solidFill>
            <a:prstDash val="solid"/>
            <a:tailEnd type="triangle"/>
          </a:ln>
        </p:spPr>
      </p:sp>
      <p:sp>
        <p:nvSpPr>
          <p:cNvPr id="63" name="Text 61"/>
          <p:cNvSpPr/>
          <p:nvPr/>
        </p:nvSpPr>
        <p:spPr>
          <a:xfrm>
            <a:off x="5715000" y="3733800"/>
            <a:ext cx="12192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750" b="1" dirty="0">
                <a:solidFill>
                  <a:srgbClr val="C77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historical data</a:t>
            </a:r>
            <a:endParaRPr lang="en-US" sz="7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750" b="1" dirty="0">
                <a:solidFill>
                  <a:srgbClr val="C77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(months)</a:t>
            </a:r>
            <a:endParaRPr lang="en-US" sz="750" dirty="0"/>
          </a:p>
        </p:txBody>
      </p:sp>
      <p:sp>
        <p:nvSpPr>
          <p:cNvPr id="64" name="Shape 62"/>
          <p:cNvSpPr/>
          <p:nvPr/>
        </p:nvSpPr>
        <p:spPr>
          <a:xfrm>
            <a:off x="4762500" y="5440680"/>
            <a:ext cx="411480" cy="0"/>
          </a:xfrm>
          <a:prstGeom prst="line">
            <a:avLst/>
          </a:prstGeom>
          <a:noFill/>
          <a:ln w="20320">
            <a:solidFill>
              <a:srgbClr val="C77414"/>
            </a:solidFill>
            <a:prstDash val="solid"/>
            <a:tailEnd type="triangle"/>
          </a:ln>
        </p:spPr>
      </p:sp>
      <p:sp>
        <p:nvSpPr>
          <p:cNvPr id="65" name="Shape 63"/>
          <p:cNvSpPr/>
          <p:nvPr/>
        </p:nvSpPr>
        <p:spPr>
          <a:xfrm>
            <a:off x="6667500" y="5440680"/>
            <a:ext cx="2705100" cy="0"/>
          </a:xfrm>
          <a:prstGeom prst="line">
            <a:avLst/>
          </a:prstGeom>
          <a:noFill/>
          <a:ln w="20320">
            <a:solidFill>
              <a:srgbClr val="C77414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 flipV="1">
            <a:off x="9372600" y="2819400"/>
            <a:ext cx="0" cy="2621280"/>
          </a:xfrm>
          <a:prstGeom prst="line">
            <a:avLst/>
          </a:prstGeom>
          <a:noFill/>
          <a:ln w="20320">
            <a:solidFill>
              <a:srgbClr val="C77414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 flipH="1">
            <a:off x="9189720" y="2819400"/>
            <a:ext cx="182880" cy="0"/>
          </a:xfrm>
          <a:prstGeom prst="line">
            <a:avLst/>
          </a:prstGeom>
          <a:noFill/>
          <a:ln w="20320">
            <a:solidFill>
              <a:srgbClr val="C77414"/>
            </a:solidFill>
            <a:prstDash val="solid"/>
            <a:tailEnd type="triangle"/>
          </a:ln>
        </p:spPr>
      </p:sp>
      <p:sp>
        <p:nvSpPr>
          <p:cNvPr id="68" name="Text 66"/>
          <p:cNvSpPr/>
          <p:nvPr/>
        </p:nvSpPr>
        <p:spPr>
          <a:xfrm>
            <a:off x="6652260" y="5212080"/>
            <a:ext cx="27432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750" b="1" dirty="0">
                <a:solidFill>
                  <a:srgbClr val="C77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learned patterns — P(event x at time t)</a:t>
            </a:r>
            <a:endParaRPr lang="en-US" sz="750" dirty="0"/>
          </a:p>
        </p:txBody>
      </p:sp>
      <p:sp>
        <p:nvSpPr>
          <p:cNvPr id="69" name="Shape 67"/>
          <p:cNvSpPr/>
          <p:nvPr/>
        </p:nvSpPr>
        <p:spPr>
          <a:xfrm>
            <a:off x="10363200" y="4419600"/>
            <a:ext cx="0" cy="1737360"/>
          </a:xfrm>
          <a:prstGeom prst="line">
            <a:avLst/>
          </a:prstGeom>
          <a:noFill/>
          <a:ln w="20320">
            <a:solidFill>
              <a:srgbClr val="8A8172"/>
            </a:solidFill>
            <a:prstDash val="dash"/>
          </a:ln>
        </p:spPr>
      </p:sp>
      <p:sp>
        <p:nvSpPr>
          <p:cNvPr id="70" name="Shape 68"/>
          <p:cNvSpPr/>
          <p:nvPr/>
        </p:nvSpPr>
        <p:spPr>
          <a:xfrm flipH="1">
            <a:off x="1295400" y="6156960"/>
            <a:ext cx="9067800" cy="0"/>
          </a:xfrm>
          <a:prstGeom prst="line">
            <a:avLst/>
          </a:prstGeom>
          <a:noFill/>
          <a:ln w="20320">
            <a:solidFill>
              <a:srgbClr val="8A8172"/>
            </a:solidFill>
            <a:prstDash val="dash"/>
          </a:ln>
        </p:spPr>
      </p:sp>
      <p:sp>
        <p:nvSpPr>
          <p:cNvPr id="71" name="Shape 69"/>
          <p:cNvSpPr/>
          <p:nvPr/>
        </p:nvSpPr>
        <p:spPr>
          <a:xfrm flipV="1">
            <a:off x="1295400" y="3185160"/>
            <a:ext cx="0" cy="2971800"/>
          </a:xfrm>
          <a:prstGeom prst="line">
            <a:avLst/>
          </a:prstGeom>
          <a:noFill/>
          <a:ln w="20320">
            <a:solidFill>
              <a:srgbClr val="8A8172"/>
            </a:solidFill>
            <a:prstDash val="dash"/>
            <a:tailEnd type="triangle"/>
          </a:ln>
        </p:spPr>
      </p:sp>
      <p:sp>
        <p:nvSpPr>
          <p:cNvPr id="72" name="Text 70"/>
          <p:cNvSpPr/>
          <p:nvPr/>
        </p:nvSpPr>
        <p:spPr>
          <a:xfrm>
            <a:off x="2514600" y="6217920"/>
            <a:ext cx="685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750" b="1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outcome — accepted or overridden → trust rises or falls · every action becomes tomorrow's training data</a:t>
            </a:r>
            <a:endParaRPr lang="en-US" sz="750" dirty="0"/>
          </a:p>
        </p:txBody>
      </p:sp>
      <p:sp>
        <p:nvSpPr>
          <p:cNvPr id="73" name="Shape 71"/>
          <p:cNvSpPr/>
          <p:nvPr/>
        </p:nvSpPr>
        <p:spPr>
          <a:xfrm>
            <a:off x="1600200" y="4968240"/>
            <a:ext cx="320040" cy="0"/>
          </a:xfrm>
          <a:prstGeom prst="line">
            <a:avLst/>
          </a:prstGeom>
          <a:noFill/>
          <a:ln w="20320">
            <a:solidFill>
              <a:srgbClr val="0E7C72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1996440" y="4899660"/>
            <a:ext cx="1828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real-time decision path</a:t>
            </a:r>
            <a:endParaRPr lang="en-US" sz="780" dirty="0"/>
          </a:p>
        </p:txBody>
      </p:sp>
      <p:sp>
        <p:nvSpPr>
          <p:cNvPr id="75" name="Shape 73"/>
          <p:cNvSpPr/>
          <p:nvPr/>
        </p:nvSpPr>
        <p:spPr>
          <a:xfrm>
            <a:off x="1600200" y="5166360"/>
            <a:ext cx="320040" cy="0"/>
          </a:xfrm>
          <a:prstGeom prst="line">
            <a:avLst/>
          </a:prstGeom>
          <a:noFill/>
          <a:ln w="20320">
            <a:solidFill>
              <a:srgbClr val="C77414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1996440" y="5097780"/>
            <a:ext cx="1828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offline learning path</a:t>
            </a:r>
            <a:endParaRPr lang="en-US" sz="780" dirty="0"/>
          </a:p>
        </p:txBody>
      </p:sp>
      <p:sp>
        <p:nvSpPr>
          <p:cNvPr id="77" name="Shape 75"/>
          <p:cNvSpPr/>
          <p:nvPr/>
        </p:nvSpPr>
        <p:spPr>
          <a:xfrm>
            <a:off x="1600200" y="5364480"/>
            <a:ext cx="320040" cy="0"/>
          </a:xfrm>
          <a:prstGeom prst="line">
            <a:avLst/>
          </a:prstGeom>
          <a:noFill/>
          <a:ln w="20320">
            <a:solidFill>
              <a:srgbClr val="8A8172"/>
            </a:solidFill>
            <a:prstDash val="dash"/>
          </a:ln>
        </p:spPr>
      </p:sp>
      <p:sp>
        <p:nvSpPr>
          <p:cNvPr id="78" name="Text 76"/>
          <p:cNvSpPr/>
          <p:nvPr/>
        </p:nvSpPr>
        <p:spPr>
          <a:xfrm>
            <a:off x="1996440" y="5295900"/>
            <a:ext cx="1828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feedback loop</a:t>
            </a:r>
            <a:endParaRPr lang="en-US" sz="780" dirty="0"/>
          </a:p>
        </p:txBody>
      </p:sp>
      <p:sp>
        <p:nvSpPr>
          <p:cNvPr id="79" name="Text 77"/>
          <p:cNvSpPr/>
          <p:nvPr/>
        </p:nvSpPr>
        <p:spPr>
          <a:xfrm>
            <a:off x="10972800" y="6461760"/>
            <a:ext cx="9144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spc="150" kern="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/ 9</a:t>
            </a:r>
            <a:endParaRPr lang="en-US" sz="78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1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685800"/>
            <a:ext cx="533400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C77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IMPACT &amp; FUTURE VISION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66800" y="975360"/>
            <a:ext cx="9144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4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Built for the </a:t>
            </a:r>
            <a:pPr indent="0" marL="0">
              <a:buNone/>
            </a:pPr>
            <a:r>
              <a:rPr lang="en-US" sz="3840" i="1" dirty="0">
                <a:solidFill>
                  <a:srgbClr val="0E7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next billion</a:t>
            </a:r>
            <a:pPr indent="0" marL="0">
              <a:buNone/>
            </a:pPr>
            <a:r>
              <a:rPr lang="en-US" sz="384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 homes.</a:t>
            </a:r>
            <a:endParaRPr lang="en-US" sz="3840" dirty="0"/>
          </a:p>
        </p:txBody>
      </p:sp>
      <p:sp>
        <p:nvSpPr>
          <p:cNvPr id="4" name="Text 2"/>
          <p:cNvSpPr/>
          <p:nvPr/>
        </p:nvSpPr>
        <p:spPr>
          <a:xfrm>
            <a:off x="1066800" y="1996440"/>
            <a:ext cx="3276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80" dirty="0">
                <a:solidFill>
                  <a:srgbClr val="0E7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~1 hour</a:t>
            </a:r>
            <a:endParaRPr lang="en-US" sz="2880" dirty="0"/>
          </a:p>
        </p:txBody>
      </p:sp>
      <p:sp>
        <p:nvSpPr>
          <p:cNvPr id="5" name="Text 3"/>
          <p:cNvSpPr/>
          <p:nvPr/>
        </p:nvSpPr>
        <p:spPr>
          <a:xfrm>
            <a:off x="1066800" y="2545080"/>
            <a:ext cx="3276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8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given back to the family every day</a:t>
            </a:r>
            <a:pPr indent="0" marL="0">
              <a:lnSpc>
                <a:spcPct val="135000"/>
              </a:lnSpc>
              <a:buNone/>
            </a:pPr>
            <a:r>
              <a:rPr lang="en-US" sz="108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the small chores of remembering (geyser, motor, locks, cooling) simply stop existing.</a:t>
            </a:r>
            <a:endParaRPr lang="en-US" sz="1080" dirty="0"/>
          </a:p>
        </p:txBody>
      </p:sp>
      <p:sp>
        <p:nvSpPr>
          <p:cNvPr id="6" name="Text 4"/>
          <p:cNvSpPr/>
          <p:nvPr/>
        </p:nvSpPr>
        <p:spPr>
          <a:xfrm>
            <a:off x="5181600" y="1996440"/>
            <a:ext cx="59436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8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 sets itself up.</a:t>
            </a:r>
            <a:pPr indent="0" marL="0">
              <a:lnSpc>
                <a:spcPct val="130000"/>
              </a:lnSpc>
              <a:buNone/>
            </a:pPr>
            <a:r>
              <a:rPr lang="en-US" sz="108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Most people never open the routines tab — automation that demands configuration never gets adopted. This one configures itself, just by watching.</a:t>
            </a:r>
            <a:endParaRPr lang="en-US" sz="1080" dirty="0"/>
          </a:p>
        </p:txBody>
      </p:sp>
      <p:sp>
        <p:nvSpPr>
          <p:cNvPr id="7" name="Text 5"/>
          <p:cNvSpPr/>
          <p:nvPr/>
        </p:nvSpPr>
        <p:spPr>
          <a:xfrm>
            <a:off x="5181600" y="2895600"/>
            <a:ext cx="59436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8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power cut isn't an emergency.</a:t>
            </a:r>
            <a:pPr indent="0" marL="0">
              <a:lnSpc>
                <a:spcPct val="130000"/>
              </a:lnSpc>
              <a:buNone/>
            </a:pPr>
            <a:r>
              <a:rPr lang="en-US" sz="108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The inverter carries what matters — the online class, the grandparents' room — and quietly sheds the rest.</a:t>
            </a:r>
            <a:endParaRPr lang="en-US" sz="1080" dirty="0"/>
          </a:p>
        </p:txBody>
      </p:sp>
      <p:sp>
        <p:nvSpPr>
          <p:cNvPr id="8" name="Text 6"/>
          <p:cNvSpPr/>
          <p:nvPr/>
        </p:nvSpPr>
        <p:spPr>
          <a:xfrm>
            <a:off x="5181600" y="3794760"/>
            <a:ext cx="59436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8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More than a speaker.</a:t>
            </a:r>
            <a:pPr indent="0" marL="0">
              <a:lnSpc>
                <a:spcPct val="130000"/>
              </a:lnSpc>
              <a:buNone/>
            </a:pPr>
            <a:r>
              <a:rPr lang="en-US" sz="108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For homes like these, the Echo in the living room stops being a music box and becomes the household's brain — that is what makes Alexa indispensable.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4815840" y="2026920"/>
            <a:ext cx="0" cy="2514600"/>
          </a:xfrm>
          <a:prstGeom prst="line">
            <a:avLst/>
          </a:prstGeom>
          <a:noFill/>
          <a:ln w="12700">
            <a:solidFill>
              <a:srgbClr val="DDD2B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66800" y="4693920"/>
            <a:ext cx="10058400" cy="0"/>
          </a:xfrm>
          <a:prstGeom prst="line">
            <a:avLst/>
          </a:prstGeom>
          <a:noFill/>
          <a:ln w="12700">
            <a:solidFill>
              <a:srgbClr val="DDD2B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66800" y="4815840"/>
            <a:ext cx="3810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Where this goes next</a:t>
            </a:r>
            <a:endParaRPr lang="en-US" sz="1440" dirty="0"/>
          </a:p>
        </p:txBody>
      </p:sp>
      <p:sp>
        <p:nvSpPr>
          <p:cNvPr id="12" name="Shape 10"/>
          <p:cNvSpPr/>
          <p:nvPr/>
        </p:nvSpPr>
        <p:spPr>
          <a:xfrm>
            <a:off x="1066800" y="5212080"/>
            <a:ext cx="3108960" cy="0"/>
          </a:xfrm>
          <a:prstGeom prst="line">
            <a:avLst/>
          </a:prstGeom>
          <a:noFill/>
          <a:ln w="28575">
            <a:solidFill>
              <a:srgbClr val="0E7C7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66800" y="5334000"/>
            <a:ext cx="31089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Sensor fusion</a:t>
            </a:r>
            <a:endParaRPr lang="en-US" sz="1080" dirty="0"/>
          </a:p>
        </p:txBody>
      </p:sp>
      <p:sp>
        <p:nvSpPr>
          <p:cNvPr id="14" name="Text 12"/>
          <p:cNvSpPr/>
          <p:nvPr/>
        </p:nvSpPr>
        <p:spPr>
          <a:xfrm>
            <a:off x="1066800" y="5577840"/>
            <a:ext cx="31089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Hear the pressure-cooker whistle and the water-motor hum — context from sound and power signatures, no new hardware.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41520" y="5212080"/>
            <a:ext cx="3108960" cy="0"/>
          </a:xfrm>
          <a:prstGeom prst="line">
            <a:avLst/>
          </a:prstGeom>
          <a:noFill/>
          <a:ln w="28575">
            <a:solidFill>
              <a:srgbClr val="0E7C7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41520" y="5334000"/>
            <a:ext cx="31089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Location-aware context</a:t>
            </a:r>
            <a:endParaRPr lang="en-US" sz="1080" dirty="0"/>
          </a:p>
        </p:txBody>
      </p:sp>
      <p:sp>
        <p:nvSpPr>
          <p:cNvPr id="17" name="Text 15"/>
          <p:cNvSpPr/>
          <p:nvPr/>
        </p:nvSpPr>
        <p:spPr>
          <a:xfrm>
            <a:off x="4541520" y="5577840"/>
            <a:ext cx="31089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home knows its city — the electricity board's outage schedule, municipal water timings, local weather, the region's festival calendar. Alexa arrives pre-informed.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8016240" y="5212080"/>
            <a:ext cx="3108960" cy="0"/>
          </a:xfrm>
          <a:prstGeom prst="line">
            <a:avLst/>
          </a:prstGeom>
          <a:noFill/>
          <a:ln w="28575">
            <a:solidFill>
              <a:srgbClr val="0E7C7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016240" y="5334000"/>
            <a:ext cx="31089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Reflexes for emergencies</a:t>
            </a:r>
            <a:endParaRPr lang="en-US" sz="1080" dirty="0"/>
          </a:p>
        </p:txBody>
      </p:sp>
      <p:sp>
        <p:nvSpPr>
          <p:cNvPr id="20" name="Text 18"/>
          <p:cNvSpPr/>
          <p:nvPr/>
        </p:nvSpPr>
        <p:spPr>
          <a:xfrm>
            <a:off x="8016240" y="5577840"/>
            <a:ext cx="31089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5C55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Sub-100 ms on-device inference for safety-critical events — a gas leak or a fire can't wait for a 3-second cloud round-trip.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0972800" y="6461760"/>
            <a:ext cx="9144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spc="150" kern="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/ 9</a:t>
            </a:r>
            <a:endParaRPr lang="en-US" sz="78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1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1798320"/>
            <a:ext cx="533400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C77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THANK YOU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43000" y="2148840"/>
            <a:ext cx="914400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20" dirty="0">
                <a:solidFill>
                  <a:srgbClr val="221E1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Questions?</a:t>
            </a:r>
            <a:endParaRPr lang="en-US" sz="5520" dirty="0"/>
          </a:p>
        </p:txBody>
      </p:sp>
      <p:sp>
        <p:nvSpPr>
          <p:cNvPr id="4" name="Text 2"/>
          <p:cNvSpPr/>
          <p:nvPr/>
        </p:nvSpPr>
        <p:spPr>
          <a:xfrm>
            <a:off x="1143000" y="3200400"/>
            <a:ext cx="76200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i="1" dirty="0">
                <a:solidFill>
                  <a:srgbClr val="5C554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An Alexa that earns trust, one morning chai at a time.</a:t>
            </a:r>
            <a:endParaRPr lang="en-US" sz="1560" dirty="0"/>
          </a:p>
        </p:txBody>
      </p:sp>
      <p:sp>
        <p:nvSpPr>
          <p:cNvPr id="5" name="Shape 3"/>
          <p:cNvSpPr/>
          <p:nvPr/>
        </p:nvSpPr>
        <p:spPr>
          <a:xfrm>
            <a:off x="1143000" y="3840480"/>
            <a:ext cx="2590800" cy="396240"/>
          </a:xfrm>
          <a:prstGeom prst="roundRect">
            <a:avLst>
              <a:gd name="adj" fmla="val 48462"/>
            </a:avLst>
          </a:prstGeom>
          <a:solidFill>
            <a:srgbClr val="221E17"/>
          </a:solidFill>
          <a:ln/>
        </p:spPr>
      </p:sp>
      <p:sp>
        <p:nvSpPr>
          <p:cNvPr id="6" name="Text 4">
            <a:hlinkClick r:id="rId1" tooltip=""/>
          </p:cNvPr>
          <p:cNvSpPr/>
          <p:nvPr/>
        </p:nvSpPr>
        <p:spPr>
          <a:xfrm>
            <a:off x="1143000" y="3840480"/>
            <a:ext cx="25908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u="sng" dirty="0">
                <a:solidFill>
                  <a:srgbClr val="F6F1E7"/>
                </a:solidFill>
                <a:latin typeface="Inter" pitchFamily="34" charset="0"/>
                <a:ea typeface="Inter" pitchFamily="34" charset="-122"/>
                <a:cs typeface="Inter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Live demo — 54.252.207.144</a:t>
            </a:r>
            <a:endParaRPr lang="en-US" sz="1020" dirty="0"/>
          </a:p>
        </p:txBody>
      </p:sp>
      <p:sp>
        <p:nvSpPr>
          <p:cNvPr id="7" name="Shape 5"/>
          <p:cNvSpPr/>
          <p:nvPr/>
        </p:nvSpPr>
        <p:spPr>
          <a:xfrm>
            <a:off x="3886200" y="3840480"/>
            <a:ext cx="3200400" cy="396240"/>
          </a:xfrm>
          <a:prstGeom prst="roundRect">
            <a:avLst>
              <a:gd name="adj" fmla="val 48462"/>
            </a:avLst>
          </a:prstGeom>
          <a:solidFill>
            <a:srgbClr val="F6F1E7"/>
          </a:solidFill>
          <a:ln w="15875">
            <a:solidFill>
              <a:srgbClr val="221E17"/>
            </a:solidFill>
            <a:prstDash val="solid"/>
          </a:ln>
        </p:spPr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3886200" y="3840480"/>
            <a:ext cx="3200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u="sng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github.com/piyushk-dev/hackon_project</a:t>
            </a:r>
            <a:endParaRPr lang="en-US" sz="1020" dirty="0"/>
          </a:p>
        </p:txBody>
      </p:sp>
      <p:sp>
        <p:nvSpPr>
          <p:cNvPr id="9" name="Text 7"/>
          <p:cNvSpPr/>
          <p:nvPr/>
        </p:nvSpPr>
        <p:spPr>
          <a:xfrm>
            <a:off x="1143000" y="4770120"/>
            <a:ext cx="7620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</a:t>
            </a:r>
            <a:pPr indent="0" marL="0">
              <a:buNone/>
            </a:pPr>
            <a:r>
              <a:rPr lang="en-US" sz="1020" b="1" dirty="0">
                <a:solidFill>
                  <a:srgbClr val="221E1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Bar Raisers</a:t>
            </a:r>
            <a:pPr indent="0" marL="0">
              <a:buNone/>
            </a:pPr>
            <a:r>
              <a:rPr lang="en-US" sz="1020" b="1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Priyanshu Agarwal &amp; Piyush Kumar · HackOn with Amazon</a:t>
            </a:r>
            <a:endParaRPr lang="en-US" sz="1020" dirty="0"/>
          </a:p>
        </p:txBody>
      </p:sp>
      <p:sp>
        <p:nvSpPr>
          <p:cNvPr id="10" name="Text 8"/>
          <p:cNvSpPr/>
          <p:nvPr/>
        </p:nvSpPr>
        <p:spPr>
          <a:xfrm>
            <a:off x="10972800" y="6461760"/>
            <a:ext cx="9144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spc="150" kern="0" dirty="0">
                <a:solidFill>
                  <a:srgbClr val="8A81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 / 9</a:t>
            </a:r>
            <a:endParaRPr lang="en-US" sz="7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Alexa Thinks Ahead — HackOn with Amazon</dc:title>
  <dc:subject>PptxGenJS Presentation</dc:subject>
  <dc:creator>Team Bar Raisers</dc:creator>
  <cp:lastModifiedBy>Team Bar Raisers</cp:lastModifiedBy>
  <cp:revision>1</cp:revision>
  <dcterms:created xsi:type="dcterms:W3CDTF">2026-07-10T20:03:13Z</dcterms:created>
  <dcterms:modified xsi:type="dcterms:W3CDTF">2026-07-10T20:03:13Z</dcterms:modified>
</cp:coreProperties>
</file>