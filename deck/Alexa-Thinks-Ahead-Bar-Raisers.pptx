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233160"/>
            <a:ext cx="4267200" cy="335280"/>
          </a:xfrm>
          <a:prstGeom prst="roundRect">
            <a:avLst>
              <a:gd name="adj" fmla="val 49091"/>
            </a:avLst>
          </a:prstGeom>
          <a:solidFill>
            <a:srgbClr val="FFFDF8">
              <a:alpha val="92000"/>
            </a:srgbClr>
          </a:solidFill>
          <a:ln w="9525">
            <a:solidFill>
              <a:srgbClr val="DDD2B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233160"/>
            <a:ext cx="426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ctr" indent="0" marL="0">
              <a:buNone/>
            </a:pPr>
            <a:r>
              <a:rPr lang="en-US" sz="930" b="1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ctr" indent="0" marL="0">
              <a:buNone/>
            </a:pPr>
            <a:r>
              <a:rPr lang="en-US" sz="93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9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36320"/>
            <a:ext cx="899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66800" y="2514600"/>
            <a:ext cx="944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4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6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57759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quietly, a fifth: </a:t>
            </a:r>
            <a:pPr indent="0" marL="0">
              <a:buNone/>
            </a:pPr>
            <a:r>
              <a:rPr lang="en-US" sz="990" b="1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</a:t>
            </a:r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routines are learned from the home's own history, and they stay the home's.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600200" y="1722120"/>
            <a:ext cx="8991600" cy="5059680"/>
          </a:xfrm>
          <a:prstGeom prst="roundRect">
            <a:avLst>
              <a:gd name="adj" fmla="val 3253"/>
            </a:avLst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600200" y="1722120"/>
            <a:ext cx="8991600" cy="5059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9144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timescales, one decision: slow-learned trends meet live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19200" y="2362200"/>
            <a:ext cx="15544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05200" y="2499360"/>
            <a:ext cx="11353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72100" y="2499360"/>
            <a:ext cx="117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(Claude)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277100" y="2362200"/>
            <a:ext cx="17449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53600" y="2362200"/>
            <a:ext cx="12496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or automates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753600" y="4160520"/>
            <a:ext cx="1249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277100" y="4160520"/>
            <a:ext cx="17449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505200" y="5410200"/>
            <a:ext cx="11353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372100" y="5410200"/>
            <a:ext cx="11734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106680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</a:t>
            </a:r>
            <a:endParaRPr lang="en-US" sz="2520" dirty="0"/>
          </a:p>
        </p:txBody>
      </p:sp>
      <p:sp>
        <p:nvSpPr>
          <p:cNvPr id="6" name="Text 4"/>
          <p:cNvSpPr/>
          <p:nvPr/>
        </p:nvSpPr>
        <p:spPr>
          <a:xfrm>
            <a:off x="129540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commands needed for the morning routine — hot water, lights and locks are simply ready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62712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5572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~30%</a:t>
            </a:r>
            <a:endParaRPr lang="en-US" sz="2520" dirty="0"/>
          </a:p>
        </p:txBody>
      </p:sp>
      <p:sp>
        <p:nvSpPr>
          <p:cNvPr id="9" name="Text 7"/>
          <p:cNvSpPr/>
          <p:nvPr/>
        </p:nvSpPr>
        <p:spPr>
          <a:xfrm>
            <a:off x="385572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flexible load shifted off peak tariff by anticipating usage, not reacting to it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18744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604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100%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641604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proactive actions explained in plain language — with a one-tap Override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874776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7636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7A4FB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520" dirty="0"/>
          </a:p>
        </p:txBody>
      </p:sp>
      <p:sp>
        <p:nvSpPr>
          <p:cNvPr id="15" name="Text 13"/>
          <p:cNvSpPr/>
          <p:nvPr/>
        </p:nvSpPr>
        <p:spPr>
          <a:xfrm>
            <a:off x="897636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tiers per device category — families decide how much Alexa may do alone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1066800" y="387096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106680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680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140" dirty="0"/>
          </a:p>
        </p:txBody>
      </p:sp>
      <p:sp>
        <p:nvSpPr>
          <p:cNvPr id="19" name="Text 17"/>
          <p:cNvSpPr/>
          <p:nvPr/>
        </p:nvSpPr>
        <p:spPr>
          <a:xfrm>
            <a:off x="106680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362712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2712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Hindi &amp; Hinglish voice</a:t>
            </a:r>
            <a:endParaRPr lang="en-US" sz="1140" dirty="0"/>
          </a:p>
        </p:txBody>
      </p:sp>
      <p:sp>
        <p:nvSpPr>
          <p:cNvPr id="22" name="Text 20"/>
          <p:cNvSpPr/>
          <p:nvPr/>
        </p:nvSpPr>
        <p:spPr>
          <a:xfrm>
            <a:off x="362712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suggestions in the language the household actually speaks, member by member.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8744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744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140" dirty="0"/>
          </a:p>
        </p:txBody>
      </p:sp>
      <p:sp>
        <p:nvSpPr>
          <p:cNvPr id="25" name="Text 23"/>
          <p:cNvSpPr/>
          <p:nvPr/>
        </p:nvSpPr>
        <p:spPr>
          <a:xfrm>
            <a:off x="618744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learning moves on-device; only anonymised patterns ever reach the cloud.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74776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4776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one home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874776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Matter ecosystem support and society-level insight: a colony that pre-arms for the 14:00 power cut together.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2026-07-10T18:39:27Z</dcterms:created>
  <dcterms:modified xsi:type="dcterms:W3CDTF">2026-07-10T18:39:27Z</dcterms:modified>
</cp:coreProperties>
</file>