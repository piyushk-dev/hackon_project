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233160"/>
            <a:ext cx="4267200" cy="335280"/>
          </a:xfrm>
          <a:prstGeom prst="roundRect">
            <a:avLst>
              <a:gd name="adj" fmla="val 49091"/>
            </a:avLst>
          </a:prstGeom>
          <a:solidFill>
            <a:srgbClr val="FFFDF8">
              <a:alpha val="92000"/>
            </a:srgbClr>
          </a:solidFill>
          <a:ln w="9525">
            <a:solidFill>
              <a:srgbClr val="DDD2BA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233160"/>
            <a:ext cx="426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ctr" indent="0" marL="0">
              <a:buNone/>
            </a:pPr>
            <a:r>
              <a:rPr lang="en-US" sz="930" b="1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ctr" indent="0" marL="0">
              <a:buNone/>
            </a:pPr>
            <a:r>
              <a:rPr lang="en-US" sz="93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93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36320"/>
            <a:ext cx="899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0000"/>
              </a:lnSpc>
              <a:buNone/>
            </a:pPr>
            <a:r>
              <a:rPr lang="en-US" sz="4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1066800" y="2514600"/>
            <a:ext cx="944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4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6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6800" y="57759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quietly, a fifth: </a:t>
            </a:r>
            <a:pPr indent="0" marL="0">
              <a:buNone/>
            </a:pPr>
            <a:r>
              <a:rPr lang="en-US" sz="990" b="1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</a:t>
            </a:r>
            <a:pPr indent="0" marL="0">
              <a:buNone/>
            </a:pPr>
            <a:r>
              <a:rPr lang="en-US" sz="99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routines are learned from the home's own history, and they stay the home's.</a:t>
            </a:r>
            <a:endParaRPr lang="en-US" sz="990" dirty="0"/>
          </a:p>
        </p:txBody>
      </p:sp>
      <p:sp>
        <p:nvSpPr>
          <p:cNvPr id="17" name="Text 15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600200" y="1722120"/>
            <a:ext cx="8991600" cy="5059680"/>
          </a:xfrm>
          <a:prstGeom prst="roundRect">
            <a:avLst>
              <a:gd name="adj" fmla="val 3253"/>
            </a:avLst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600200" y="1722120"/>
            <a:ext cx="8991600" cy="5059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9144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timescales, one decision: slow-learned trends meet live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19200" y="2362200"/>
            <a:ext cx="15544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05200" y="2499360"/>
            <a:ext cx="11353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72100" y="2499360"/>
            <a:ext cx="1173480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(Claude)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277100" y="2362200"/>
            <a:ext cx="17449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753600" y="2362200"/>
            <a:ext cx="1249680" cy="746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49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Speaks or automates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753600" y="4160520"/>
            <a:ext cx="12496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449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277100" y="4160520"/>
            <a:ext cx="174498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353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3505200" y="5410200"/>
            <a:ext cx="11353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7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372100" y="5410200"/>
            <a:ext cx="1173480" cy="518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106680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9540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520" dirty="0"/>
          </a:p>
        </p:txBody>
      </p:sp>
      <p:sp>
        <p:nvSpPr>
          <p:cNvPr id="6" name="Text 4"/>
          <p:cNvSpPr/>
          <p:nvPr/>
        </p:nvSpPr>
        <p:spPr>
          <a:xfrm>
            <a:off x="129540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commands needed for the morning routine — hot water, lights and locks are simply ready</a:t>
            </a:r>
            <a:endParaRPr lang="en-US" sz="930" dirty="0"/>
          </a:p>
        </p:txBody>
      </p:sp>
      <p:sp>
        <p:nvSpPr>
          <p:cNvPr id="7" name="Shape 5"/>
          <p:cNvSpPr/>
          <p:nvPr/>
        </p:nvSpPr>
        <p:spPr>
          <a:xfrm>
            <a:off x="362712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85572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~30%</a:t>
            </a:r>
            <a:endParaRPr lang="en-US" sz="2520" dirty="0"/>
          </a:p>
        </p:txBody>
      </p:sp>
      <p:sp>
        <p:nvSpPr>
          <p:cNvPr id="9" name="Text 7"/>
          <p:cNvSpPr/>
          <p:nvPr/>
        </p:nvSpPr>
        <p:spPr>
          <a:xfrm>
            <a:off x="385572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flexible load shifted off peak tariff by anticipating usage, not reacting to it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18744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1604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2520" dirty="0"/>
          </a:p>
        </p:txBody>
      </p:sp>
      <p:sp>
        <p:nvSpPr>
          <p:cNvPr id="12" name="Text 10"/>
          <p:cNvSpPr/>
          <p:nvPr/>
        </p:nvSpPr>
        <p:spPr>
          <a:xfrm>
            <a:off x="641604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proactive actions explained in plain language — with a one-tap Override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8747760" y="1905000"/>
            <a:ext cx="2362200" cy="1524000"/>
          </a:xfrm>
          <a:prstGeom prst="roundRect">
            <a:avLst>
              <a:gd name="adj" fmla="val 72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76360" y="2103120"/>
            <a:ext cx="19050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7A4FB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520" dirty="0"/>
          </a:p>
        </p:txBody>
      </p:sp>
      <p:sp>
        <p:nvSpPr>
          <p:cNvPr id="15" name="Text 13"/>
          <p:cNvSpPr/>
          <p:nvPr/>
        </p:nvSpPr>
        <p:spPr>
          <a:xfrm>
            <a:off x="8976360" y="2560320"/>
            <a:ext cx="19202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4C46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tiers per device category — families decide how much Alexa may do alone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1066800" y="387096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7" name="Shape 15"/>
          <p:cNvSpPr/>
          <p:nvPr/>
        </p:nvSpPr>
        <p:spPr>
          <a:xfrm>
            <a:off x="106680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680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140" dirty="0"/>
          </a:p>
        </p:txBody>
      </p:sp>
      <p:sp>
        <p:nvSpPr>
          <p:cNvPr id="19" name="Text 17"/>
          <p:cNvSpPr/>
          <p:nvPr/>
        </p:nvSpPr>
        <p:spPr>
          <a:xfrm>
            <a:off x="106680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362712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2712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&amp; Hinglish voice</a:t>
            </a:r>
            <a:endParaRPr lang="en-US" sz="1140" dirty="0"/>
          </a:p>
        </p:txBody>
      </p:sp>
      <p:sp>
        <p:nvSpPr>
          <p:cNvPr id="22" name="Text 20"/>
          <p:cNvSpPr/>
          <p:nvPr/>
        </p:nvSpPr>
        <p:spPr>
          <a:xfrm>
            <a:off x="362712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suggestions in the language the household actually speaks, member by member.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18744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8744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by default</a:t>
            </a:r>
            <a:endParaRPr lang="en-US" sz="1140" dirty="0"/>
          </a:p>
        </p:txBody>
      </p:sp>
      <p:sp>
        <p:nvSpPr>
          <p:cNvPr id="25" name="Text 23"/>
          <p:cNvSpPr/>
          <p:nvPr/>
        </p:nvSpPr>
        <p:spPr>
          <a:xfrm>
            <a:off x="618744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learning moves on-device; only anonymised patterns ever reach the cloud.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747760" y="420624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47760" y="432816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one home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8747760" y="4587240"/>
            <a:ext cx="2362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Matter ecosystem support and society-level insight: a colony that pre-arms for the 14:00 power cut together.</a:t>
            </a:r>
            <a:endParaRPr lang="en-US" sz="930" dirty="0"/>
          </a:p>
        </p:txBody>
      </p:sp>
      <p:sp>
        <p:nvSpPr>
          <p:cNvPr id="29" name="Text 2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2026-07-10T18:44:04Z</dcterms:created>
  <dcterms:modified xsi:type="dcterms:W3CDTF">2026-07-10T18:44:04Z</dcterms:modified>
</cp:coreProperties>
</file>