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6-1.mp4"/><Relationship Id="rId2" Type="http://schemas.microsoft.com/office/2007/relationships/media" Target="../media/media-6-1.mp4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://54.252.207.144/" TargetMode="External"/><Relationship Id="rId2" Type="http://schemas.openxmlformats.org/officeDocument/2006/relationships/hyperlink" Target="https://github.com/piyushk-dev/hackon_projec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thequacker/hackon_project/hackon_project/deck/assets/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240" y="6324600"/>
            <a:ext cx="579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</a:t>
            </a:r>
            <a:pPr algn="l" indent="0" marL="0">
              <a:buNone/>
            </a:pPr>
            <a:r>
              <a:rPr lang="en-US" sz="960" b="1" dirty="0">
                <a:solidFill>
                  <a:srgbClr val="0A5A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 Raisers</a:t>
            </a:r>
            <a:pPr algn="l"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Priyanshu Agarwal &amp; Piyush Kumar</a:t>
            </a:r>
            <a:endParaRPr lang="en-US" sz="9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38200"/>
            <a:ext cx="5334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NEXT TEN MINUTES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6800" y="1143000"/>
            <a:ext cx="5029200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528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command-taker to a </a:t>
            </a:r>
            <a:pPr indent="0" marL="0">
              <a:lnSpc>
                <a:spcPct val="98000"/>
              </a:lnSpc>
              <a:buNone/>
            </a:pPr>
            <a:r>
              <a:rPr lang="en-US" sz="5280" i="1" dirty="0">
                <a:solidFill>
                  <a:srgbClr val="0E7C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household partner</a:t>
            </a:r>
            <a:pPr indent="0" marL="0">
              <a:lnSpc>
                <a:spcPct val="98000"/>
              </a:lnSpc>
              <a:buNone/>
            </a:pPr>
            <a:r>
              <a:rPr lang="en-US" sz="528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5280" dirty="0"/>
          </a:p>
        </p:txBody>
      </p:sp>
      <p:sp>
        <p:nvSpPr>
          <p:cNvPr id="4" name="Text 2"/>
          <p:cNvSpPr/>
          <p:nvPr/>
        </p:nvSpPr>
        <p:spPr>
          <a:xfrm>
            <a:off x="1066800" y="4419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Alexa that learns the rhythm of an Indian home and acts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anyone asks — every action explained, every liberty earned.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705600" y="838200"/>
            <a:ext cx="457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C77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7345680" y="822960"/>
            <a:ext cx="377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7345680" y="1127760"/>
            <a:ext cx="37795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today's Alexa can't do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05600" y="1463040"/>
            <a:ext cx="44196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05600" y="1615440"/>
            <a:ext cx="457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C77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60" dirty="0"/>
          </a:p>
        </p:txBody>
      </p:sp>
      <p:sp>
        <p:nvSpPr>
          <p:cNvPr id="10" name="Text 8"/>
          <p:cNvSpPr/>
          <p:nvPr/>
        </p:nvSpPr>
        <p:spPr>
          <a:xfrm>
            <a:off x="7345680" y="1600200"/>
            <a:ext cx="377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scenario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7345680" y="1905000"/>
            <a:ext cx="37795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Dadaji's 6:45 bath — thirty mornings of it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705600" y="2240280"/>
            <a:ext cx="44196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05600" y="2392680"/>
            <a:ext cx="457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C77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7345680" y="2377440"/>
            <a:ext cx="377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 need as a customer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7345680" y="2682240"/>
            <a:ext cx="37795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what we built for each need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05600" y="3017520"/>
            <a:ext cx="44196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5600" y="3169920"/>
            <a:ext cx="457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C77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7345680" y="3154680"/>
            <a:ext cx="377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7345680" y="3459480"/>
            <a:ext cx="37795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day in an Indian home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05600" y="3794760"/>
            <a:ext cx="44196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5600" y="3947160"/>
            <a:ext cx="457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C77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7345680" y="3931920"/>
            <a:ext cx="377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architecture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7345680" y="4236720"/>
            <a:ext cx="37795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routine model + an LLM that knows today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05600" y="4572000"/>
            <a:ext cx="44196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05600" y="4724400"/>
            <a:ext cx="457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C77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60" dirty="0"/>
          </a:p>
        </p:txBody>
      </p:sp>
      <p:sp>
        <p:nvSpPr>
          <p:cNvPr id="26" name="Text 24"/>
          <p:cNvSpPr/>
          <p:nvPr/>
        </p:nvSpPr>
        <p:spPr>
          <a:xfrm>
            <a:off x="7345680" y="4709160"/>
            <a:ext cx="377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&amp; future vision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7345680" y="5013960"/>
            <a:ext cx="37795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unlocks for the next billion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05600" y="5349240"/>
            <a:ext cx="44196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05600" y="5501640"/>
            <a:ext cx="457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C77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560" dirty="0"/>
          </a:p>
        </p:txBody>
      </p:sp>
      <p:sp>
        <p:nvSpPr>
          <p:cNvPr id="30" name="Text 28"/>
          <p:cNvSpPr/>
          <p:nvPr/>
        </p:nvSpPr>
        <p:spPr>
          <a:xfrm>
            <a:off x="7345680" y="5486400"/>
            <a:ext cx="377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</a:t>
            </a:r>
            <a:endParaRPr lang="en-US" sz="1440" dirty="0"/>
          </a:p>
        </p:txBody>
      </p:sp>
      <p:sp>
        <p:nvSpPr>
          <p:cNvPr id="31" name="Shape 29"/>
          <p:cNvSpPr/>
          <p:nvPr/>
        </p:nvSpPr>
        <p:spPr>
          <a:xfrm>
            <a:off x="6705600" y="5928360"/>
            <a:ext cx="44196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0" y="646176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spc="150" kern="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9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31520"/>
            <a:ext cx="5334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6800" y="1021080"/>
            <a:ext cx="10134600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homes run on rhythm.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homes still 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B04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wait for orders</a:t>
            </a:r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66800" y="2651760"/>
            <a:ext cx="10058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80" i="1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“Alexa, you should already know this.”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a multi-generational household issues dozens of commands a day to devices that never learn what happens next.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6800" y="3444240"/>
            <a:ext cx="1314994" cy="30480"/>
          </a:xfrm>
          <a:prstGeom prst="roundRect">
            <a:avLst>
              <a:gd name="adj" fmla="val 45000"/>
            </a:avLst>
          </a:prstGeom>
          <a:solidFill>
            <a:srgbClr val="DDD2BA"/>
          </a:solidFill>
          <a:ln/>
        </p:spPr>
      </p:sp>
      <p:sp>
        <p:nvSpPr>
          <p:cNvPr id="6" name="Shape 4"/>
          <p:cNvSpPr/>
          <p:nvPr/>
        </p:nvSpPr>
        <p:spPr>
          <a:xfrm>
            <a:off x="1059180" y="3406140"/>
            <a:ext cx="99060" cy="9906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3611880"/>
            <a:ext cx="131499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05:30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6800" y="3840480"/>
            <a:ext cx="1284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Morning pooja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03714" y="3444240"/>
            <a:ext cx="1314994" cy="30480"/>
          </a:xfrm>
          <a:prstGeom prst="roundRect">
            <a:avLst>
              <a:gd name="adj" fmla="val 45000"/>
            </a:avLst>
          </a:prstGeom>
          <a:solidFill>
            <a:srgbClr val="DDD2BA"/>
          </a:solidFill>
          <a:ln/>
        </p:spPr>
      </p:sp>
      <p:sp>
        <p:nvSpPr>
          <p:cNvPr id="10" name="Shape 8"/>
          <p:cNvSpPr/>
          <p:nvPr/>
        </p:nvSpPr>
        <p:spPr>
          <a:xfrm>
            <a:off x="2496094" y="3406140"/>
            <a:ext cx="99060" cy="99060"/>
          </a:xfrm>
          <a:prstGeom prst="ellipse">
            <a:avLst/>
          </a:prstGeom>
          <a:solidFill>
            <a:srgbClr val="C77414"/>
          </a:solidFill>
          <a:ln/>
        </p:spPr>
      </p:sp>
      <p:sp>
        <p:nvSpPr>
          <p:cNvPr id="11" name="Text 9"/>
          <p:cNvSpPr/>
          <p:nvPr/>
        </p:nvSpPr>
        <p:spPr>
          <a:xfrm>
            <a:off x="2503714" y="3611880"/>
            <a:ext cx="131499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06:15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03714" y="3840480"/>
            <a:ext cx="1284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Geyser for bath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40629" y="3444240"/>
            <a:ext cx="1314994" cy="30480"/>
          </a:xfrm>
          <a:prstGeom prst="roundRect">
            <a:avLst>
              <a:gd name="adj" fmla="val 45000"/>
            </a:avLst>
          </a:prstGeom>
          <a:solidFill>
            <a:srgbClr val="DDD2BA"/>
          </a:solidFill>
          <a:ln/>
        </p:spPr>
      </p:sp>
      <p:sp>
        <p:nvSpPr>
          <p:cNvPr id="14" name="Shape 12"/>
          <p:cNvSpPr/>
          <p:nvPr/>
        </p:nvSpPr>
        <p:spPr>
          <a:xfrm>
            <a:off x="3933009" y="3406140"/>
            <a:ext cx="99060" cy="9906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15" name="Text 13"/>
          <p:cNvSpPr/>
          <p:nvPr/>
        </p:nvSpPr>
        <p:spPr>
          <a:xfrm>
            <a:off x="3940629" y="3611880"/>
            <a:ext cx="131499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07:30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40629" y="3840480"/>
            <a:ext cx="1284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Pressure-cooker breakfast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77543" y="3444240"/>
            <a:ext cx="1314994" cy="30480"/>
          </a:xfrm>
          <a:prstGeom prst="roundRect">
            <a:avLst>
              <a:gd name="adj" fmla="val 45000"/>
            </a:avLst>
          </a:prstGeom>
          <a:solidFill>
            <a:srgbClr val="DDD2BA"/>
          </a:solidFill>
          <a:ln/>
        </p:spPr>
      </p:sp>
      <p:sp>
        <p:nvSpPr>
          <p:cNvPr id="18" name="Shape 16"/>
          <p:cNvSpPr/>
          <p:nvPr/>
        </p:nvSpPr>
        <p:spPr>
          <a:xfrm>
            <a:off x="5369923" y="3406140"/>
            <a:ext cx="99060" cy="99060"/>
          </a:xfrm>
          <a:prstGeom prst="ellipse">
            <a:avLst/>
          </a:prstGeom>
          <a:solidFill>
            <a:srgbClr val="C77414"/>
          </a:solidFill>
          <a:ln/>
        </p:spPr>
      </p:sp>
      <p:sp>
        <p:nvSpPr>
          <p:cNvPr id="19" name="Text 17"/>
          <p:cNvSpPr/>
          <p:nvPr/>
        </p:nvSpPr>
        <p:spPr>
          <a:xfrm>
            <a:off x="5377543" y="3611880"/>
            <a:ext cx="131499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08:00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77543" y="3840480"/>
            <a:ext cx="1284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Water motor 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14457" y="3444240"/>
            <a:ext cx="1314994" cy="30480"/>
          </a:xfrm>
          <a:prstGeom prst="roundRect">
            <a:avLst>
              <a:gd name="adj" fmla="val 45000"/>
            </a:avLst>
          </a:prstGeom>
          <a:solidFill>
            <a:srgbClr val="DDD2BA"/>
          </a:solidFill>
          <a:ln/>
        </p:spPr>
      </p:sp>
      <p:sp>
        <p:nvSpPr>
          <p:cNvPr id="22" name="Shape 20"/>
          <p:cNvSpPr/>
          <p:nvPr/>
        </p:nvSpPr>
        <p:spPr>
          <a:xfrm>
            <a:off x="6806837" y="3406140"/>
            <a:ext cx="99060" cy="99060"/>
          </a:xfrm>
          <a:prstGeom prst="ellipse">
            <a:avLst/>
          </a:prstGeom>
          <a:solidFill>
            <a:srgbClr val="B0483A"/>
          </a:solidFill>
          <a:ln/>
        </p:spPr>
      </p:sp>
      <p:sp>
        <p:nvSpPr>
          <p:cNvPr id="23" name="Text 21"/>
          <p:cNvSpPr/>
          <p:nvPr/>
        </p:nvSpPr>
        <p:spPr>
          <a:xfrm>
            <a:off x="6814457" y="3611880"/>
            <a:ext cx="131499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14:00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4457" y="3840480"/>
            <a:ext cx="1284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cut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51371" y="3444240"/>
            <a:ext cx="1314994" cy="30480"/>
          </a:xfrm>
          <a:prstGeom prst="roundRect">
            <a:avLst>
              <a:gd name="adj" fmla="val 45000"/>
            </a:avLst>
          </a:prstGeom>
          <a:solidFill>
            <a:srgbClr val="DDD2BA"/>
          </a:solidFill>
          <a:ln/>
        </p:spPr>
      </p:sp>
      <p:sp>
        <p:nvSpPr>
          <p:cNvPr id="26" name="Shape 24"/>
          <p:cNvSpPr/>
          <p:nvPr/>
        </p:nvSpPr>
        <p:spPr>
          <a:xfrm>
            <a:off x="8243751" y="3406140"/>
            <a:ext cx="99060" cy="99060"/>
          </a:xfrm>
          <a:prstGeom prst="ellipse">
            <a:avLst/>
          </a:prstGeom>
          <a:solidFill>
            <a:srgbClr val="C77414"/>
          </a:solidFill>
          <a:ln/>
        </p:spPr>
      </p:sp>
      <p:sp>
        <p:nvSpPr>
          <p:cNvPr id="27" name="Text 25"/>
          <p:cNvSpPr/>
          <p:nvPr/>
        </p:nvSpPr>
        <p:spPr>
          <a:xfrm>
            <a:off x="8251371" y="3611880"/>
            <a:ext cx="131499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17:00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51371" y="3840480"/>
            <a:ext cx="1284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hours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688286" y="3444240"/>
            <a:ext cx="1314994" cy="30480"/>
          </a:xfrm>
          <a:prstGeom prst="roundRect">
            <a:avLst>
              <a:gd name="adj" fmla="val 45000"/>
            </a:avLst>
          </a:prstGeom>
          <a:solidFill>
            <a:srgbClr val="DDD2BA"/>
          </a:solidFill>
          <a:ln/>
        </p:spPr>
      </p:sp>
      <p:sp>
        <p:nvSpPr>
          <p:cNvPr id="30" name="Shape 28"/>
          <p:cNvSpPr/>
          <p:nvPr/>
        </p:nvSpPr>
        <p:spPr>
          <a:xfrm>
            <a:off x="9680666" y="3406140"/>
            <a:ext cx="99060" cy="9906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31" name="Text 29"/>
          <p:cNvSpPr/>
          <p:nvPr/>
        </p:nvSpPr>
        <p:spPr>
          <a:xfrm>
            <a:off x="9688286" y="3611880"/>
            <a:ext cx="131499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18:30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88286" y="3840480"/>
            <a:ext cx="1284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Evening chai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66800" y="4495800"/>
            <a:ext cx="3215640" cy="1722120"/>
          </a:xfrm>
          <a:prstGeom prst="roundRect">
            <a:avLst>
              <a:gd name="adj" fmla="val 6372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66800" y="4495800"/>
            <a:ext cx="3215640" cy="53340"/>
          </a:xfrm>
          <a:prstGeom prst="roundRect">
            <a:avLst>
              <a:gd name="adj" fmla="val 34286"/>
            </a:avLst>
          </a:prstGeom>
          <a:solidFill>
            <a:srgbClr val="B0483A"/>
          </a:solidFill>
          <a:ln/>
        </p:spPr>
      </p:sp>
      <p:sp>
        <p:nvSpPr>
          <p:cNvPr id="35" name="Text 33"/>
          <p:cNvSpPr/>
          <p:nvPr/>
        </p:nvSpPr>
        <p:spPr>
          <a:xfrm>
            <a:off x="1325880" y="4739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Reactive, not ready</a:t>
            </a:r>
            <a:endParaRPr lang="en-US" sz="1560" dirty="0"/>
          </a:p>
        </p:txBody>
      </p:sp>
      <p:sp>
        <p:nvSpPr>
          <p:cNvPr id="36" name="Text 34"/>
          <p:cNvSpPr/>
          <p:nvPr/>
        </p:nvSpPr>
        <p:spPr>
          <a:xfrm>
            <a:off x="1325880" y="5059680"/>
            <a:ext cx="271272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"Alexa, turn on the geyser" — every single morning. The assistant obeys, but the hot water is still 20 minutes late.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4480560" y="4495800"/>
            <a:ext cx="3215640" cy="1722120"/>
          </a:xfrm>
          <a:prstGeom prst="roundRect">
            <a:avLst>
              <a:gd name="adj" fmla="val 6372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4495800"/>
            <a:ext cx="3215640" cy="53340"/>
          </a:xfrm>
          <a:prstGeom prst="roundRect">
            <a:avLst>
              <a:gd name="adj" fmla="val 34286"/>
            </a:avLst>
          </a:prstGeom>
          <a:solidFill>
            <a:srgbClr val="B0483A"/>
          </a:solidFill>
          <a:ln/>
        </p:spPr>
      </p:sp>
      <p:sp>
        <p:nvSpPr>
          <p:cNvPr id="39" name="Text 37"/>
          <p:cNvSpPr/>
          <p:nvPr/>
        </p:nvSpPr>
        <p:spPr>
          <a:xfrm>
            <a:off x="4739640" y="4739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Context-blind</a:t>
            </a:r>
            <a:endParaRPr lang="en-US" sz="1560" dirty="0"/>
          </a:p>
        </p:txBody>
      </p:sp>
      <p:sp>
        <p:nvSpPr>
          <p:cNvPr id="40" name="Text 38"/>
          <p:cNvSpPr/>
          <p:nvPr/>
        </p:nvSpPr>
        <p:spPr>
          <a:xfrm>
            <a:off x="4739640" y="5059680"/>
            <a:ext cx="271272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doesn't know a power cut is different during a child's online class, or that grandparents bathe before everyone wakes.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7894320" y="4495800"/>
            <a:ext cx="3215640" cy="1722120"/>
          </a:xfrm>
          <a:prstGeom prst="roundRect">
            <a:avLst>
              <a:gd name="adj" fmla="val 6372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894320" y="4495800"/>
            <a:ext cx="3215640" cy="53340"/>
          </a:xfrm>
          <a:prstGeom prst="roundRect">
            <a:avLst>
              <a:gd name="adj" fmla="val 34286"/>
            </a:avLst>
          </a:prstGeom>
          <a:solidFill>
            <a:srgbClr val="B0483A"/>
          </a:solidFill>
          <a:ln/>
        </p:spPr>
      </p:sp>
      <p:sp>
        <p:nvSpPr>
          <p:cNvPr id="43" name="Text 41"/>
          <p:cNvSpPr/>
          <p:nvPr/>
        </p:nvSpPr>
        <p:spPr>
          <a:xfrm>
            <a:off x="8153400" y="4739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was never earned</a:t>
            </a:r>
            <a:endParaRPr lang="en-US" sz="1560" dirty="0"/>
          </a:p>
        </p:txBody>
      </p:sp>
      <p:sp>
        <p:nvSpPr>
          <p:cNvPr id="44" name="Text 42"/>
          <p:cNvSpPr/>
          <p:nvPr/>
        </p:nvSpPr>
        <p:spPr>
          <a:xfrm>
            <a:off x="8153400" y="5059680"/>
            <a:ext cx="271272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explanations, no way to correct it — so families keep automation switched off and do everything by hand.</a:t>
            </a:r>
            <a:endParaRPr lang="en-US" sz="960" dirty="0"/>
          </a:p>
        </p:txBody>
      </p:sp>
      <p:sp>
        <p:nvSpPr>
          <p:cNvPr id="45" name="Text 43"/>
          <p:cNvSpPr/>
          <p:nvPr/>
        </p:nvSpPr>
        <p:spPr>
          <a:xfrm>
            <a:off x="10972800" y="646176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spc="150" kern="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9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40080"/>
            <a:ext cx="5334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SCENARIO — DADAJI'S BATH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6800" y="929640"/>
            <a:ext cx="762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4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mornings. </a:t>
            </a:r>
            <a:pPr indent="0" marL="0">
              <a:buNone/>
            </a:pPr>
            <a:r>
              <a:rPr lang="en-US" sz="3840" i="1" dirty="0">
                <a:solidFill>
                  <a:srgbClr val="0E7C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pattern.</a:t>
            </a:r>
            <a:endParaRPr lang="en-US" sz="3840" dirty="0"/>
          </a:p>
        </p:txBody>
      </p:sp>
      <p:sp>
        <p:nvSpPr>
          <p:cNvPr id="4" name="Shape 2"/>
          <p:cNvSpPr/>
          <p:nvPr/>
        </p:nvSpPr>
        <p:spPr>
          <a:xfrm>
            <a:off x="3153114" y="2148840"/>
            <a:ext cx="1256353" cy="4114800"/>
          </a:xfrm>
          <a:prstGeom prst="roundRect">
            <a:avLst>
              <a:gd name="adj" fmla="val 5095"/>
            </a:avLst>
          </a:prstGeom>
          <a:solidFill>
            <a:srgbClr val="0E7C72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33241" y="2148840"/>
            <a:ext cx="958395" cy="4114800"/>
          </a:xfrm>
          <a:prstGeom prst="roundRect">
            <a:avLst>
              <a:gd name="adj" fmla="val 6679"/>
            </a:avLst>
          </a:prstGeom>
          <a:solidFill>
            <a:srgbClr val="C77414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612571" y="2133600"/>
            <a:ext cx="0" cy="408432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07771" y="1889760"/>
            <a:ext cx="6096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spc="80" kern="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AM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4180114" y="2133600"/>
            <a:ext cx="0" cy="408432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5314" y="1889760"/>
            <a:ext cx="6096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spc="80" kern="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AM</a:t>
            </a:r>
            <a:endParaRPr lang="en-US" sz="690" dirty="0"/>
          </a:p>
        </p:txBody>
      </p:sp>
      <p:sp>
        <p:nvSpPr>
          <p:cNvPr id="10" name="Shape 8"/>
          <p:cNvSpPr/>
          <p:nvPr/>
        </p:nvSpPr>
        <p:spPr>
          <a:xfrm>
            <a:off x="5747657" y="2133600"/>
            <a:ext cx="0" cy="408432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2857" y="1889760"/>
            <a:ext cx="6096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spc="80" kern="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AM</a:t>
            </a:r>
            <a:endParaRPr lang="en-US" sz="690" dirty="0"/>
          </a:p>
        </p:txBody>
      </p:sp>
      <p:sp>
        <p:nvSpPr>
          <p:cNvPr id="12" name="Shape 10"/>
          <p:cNvSpPr/>
          <p:nvPr/>
        </p:nvSpPr>
        <p:spPr>
          <a:xfrm>
            <a:off x="7315200" y="2133600"/>
            <a:ext cx="0" cy="408432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10400" y="1889760"/>
            <a:ext cx="6096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spc="80" kern="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AM</a:t>
            </a:r>
            <a:endParaRPr lang="en-US" sz="690" dirty="0"/>
          </a:p>
        </p:txBody>
      </p:sp>
      <p:sp>
        <p:nvSpPr>
          <p:cNvPr id="14" name="Text 12"/>
          <p:cNvSpPr/>
          <p:nvPr/>
        </p:nvSpPr>
        <p:spPr>
          <a:xfrm>
            <a:off x="1028700" y="2133600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</a:t>
            </a:r>
            <a:endParaRPr lang="en-US" sz="630" dirty="0"/>
          </a:p>
        </p:txBody>
      </p:sp>
      <p:sp>
        <p:nvSpPr>
          <p:cNvPr id="15" name="Text 13"/>
          <p:cNvSpPr/>
          <p:nvPr/>
        </p:nvSpPr>
        <p:spPr>
          <a:xfrm>
            <a:off x="1554480" y="213360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570" dirty="0"/>
          </a:p>
        </p:txBody>
      </p:sp>
      <p:sp>
        <p:nvSpPr>
          <p:cNvPr id="16" name="Shape 14"/>
          <p:cNvSpPr/>
          <p:nvPr/>
        </p:nvSpPr>
        <p:spPr>
          <a:xfrm>
            <a:off x="3793864" y="2152650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17" name="Text 15"/>
          <p:cNvSpPr/>
          <p:nvPr/>
        </p:nvSpPr>
        <p:spPr>
          <a:xfrm>
            <a:off x="1028700" y="2267712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1554480" y="22677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570" dirty="0"/>
          </a:p>
        </p:txBody>
      </p:sp>
      <p:sp>
        <p:nvSpPr>
          <p:cNvPr id="19" name="Shape 17"/>
          <p:cNvSpPr/>
          <p:nvPr/>
        </p:nvSpPr>
        <p:spPr>
          <a:xfrm>
            <a:off x="3722002" y="2286762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20" name="Text 18"/>
          <p:cNvSpPr/>
          <p:nvPr/>
        </p:nvSpPr>
        <p:spPr>
          <a:xfrm>
            <a:off x="1028700" y="2401824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3</a:t>
            </a:r>
            <a:endParaRPr lang="en-US" sz="630" dirty="0"/>
          </a:p>
        </p:txBody>
      </p:sp>
      <p:sp>
        <p:nvSpPr>
          <p:cNvPr id="21" name="Text 19"/>
          <p:cNvSpPr/>
          <p:nvPr/>
        </p:nvSpPr>
        <p:spPr>
          <a:xfrm>
            <a:off x="1554480" y="240182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</a:t>
            </a:r>
            <a:endParaRPr lang="en-US" sz="570" dirty="0"/>
          </a:p>
        </p:txBody>
      </p:sp>
      <p:sp>
        <p:nvSpPr>
          <p:cNvPr id="22" name="Shape 20"/>
          <p:cNvSpPr/>
          <p:nvPr/>
        </p:nvSpPr>
        <p:spPr>
          <a:xfrm>
            <a:off x="4869724" y="2420874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23" name="Text 21"/>
          <p:cNvSpPr/>
          <p:nvPr/>
        </p:nvSpPr>
        <p:spPr>
          <a:xfrm>
            <a:off x="1028700" y="2535936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4</a:t>
            </a:r>
            <a:endParaRPr lang="en-US" sz="630" dirty="0"/>
          </a:p>
        </p:txBody>
      </p:sp>
      <p:sp>
        <p:nvSpPr>
          <p:cNvPr id="24" name="Text 22"/>
          <p:cNvSpPr/>
          <p:nvPr/>
        </p:nvSpPr>
        <p:spPr>
          <a:xfrm>
            <a:off x="1554480" y="253593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570" dirty="0"/>
          </a:p>
        </p:txBody>
      </p:sp>
      <p:sp>
        <p:nvSpPr>
          <p:cNvPr id="25" name="Shape 23"/>
          <p:cNvSpPr/>
          <p:nvPr/>
        </p:nvSpPr>
        <p:spPr>
          <a:xfrm>
            <a:off x="3826138" y="2554986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26" name="Text 24"/>
          <p:cNvSpPr/>
          <p:nvPr/>
        </p:nvSpPr>
        <p:spPr>
          <a:xfrm>
            <a:off x="1028700" y="2670048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5</a:t>
            </a:r>
            <a:endParaRPr lang="en-US" sz="630" dirty="0"/>
          </a:p>
        </p:txBody>
      </p:sp>
      <p:sp>
        <p:nvSpPr>
          <p:cNvPr id="27" name="Text 25"/>
          <p:cNvSpPr/>
          <p:nvPr/>
        </p:nvSpPr>
        <p:spPr>
          <a:xfrm>
            <a:off x="1554480" y="267004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570" dirty="0"/>
          </a:p>
        </p:txBody>
      </p:sp>
      <p:sp>
        <p:nvSpPr>
          <p:cNvPr id="28" name="Shape 26"/>
          <p:cNvSpPr/>
          <p:nvPr/>
        </p:nvSpPr>
        <p:spPr>
          <a:xfrm>
            <a:off x="3593396" y="2689098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29" name="Text 27"/>
          <p:cNvSpPr/>
          <p:nvPr/>
        </p:nvSpPr>
        <p:spPr>
          <a:xfrm>
            <a:off x="1028700" y="2804160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6</a:t>
            </a:r>
            <a:endParaRPr lang="en-US" sz="630" dirty="0"/>
          </a:p>
        </p:txBody>
      </p:sp>
      <p:sp>
        <p:nvSpPr>
          <p:cNvPr id="30" name="Text 28"/>
          <p:cNvSpPr/>
          <p:nvPr/>
        </p:nvSpPr>
        <p:spPr>
          <a:xfrm>
            <a:off x="1554480" y="280416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570" dirty="0"/>
          </a:p>
        </p:txBody>
      </p:sp>
      <p:sp>
        <p:nvSpPr>
          <p:cNvPr id="31" name="Shape 29"/>
          <p:cNvSpPr/>
          <p:nvPr/>
        </p:nvSpPr>
        <p:spPr>
          <a:xfrm>
            <a:off x="3758824" y="2823210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32" name="Text 30"/>
          <p:cNvSpPr/>
          <p:nvPr/>
        </p:nvSpPr>
        <p:spPr>
          <a:xfrm>
            <a:off x="1028700" y="2938272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7</a:t>
            </a:r>
            <a:endParaRPr lang="en-US" sz="630" dirty="0"/>
          </a:p>
        </p:txBody>
      </p:sp>
      <p:sp>
        <p:nvSpPr>
          <p:cNvPr id="33" name="Text 31"/>
          <p:cNvSpPr/>
          <p:nvPr/>
        </p:nvSpPr>
        <p:spPr>
          <a:xfrm>
            <a:off x="1554480" y="293827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570" dirty="0"/>
          </a:p>
        </p:txBody>
      </p:sp>
      <p:sp>
        <p:nvSpPr>
          <p:cNvPr id="34" name="Shape 32"/>
          <p:cNvSpPr/>
          <p:nvPr/>
        </p:nvSpPr>
        <p:spPr>
          <a:xfrm>
            <a:off x="5682337" y="2957322"/>
            <a:ext cx="83820" cy="83820"/>
          </a:xfrm>
          <a:prstGeom prst="ellipse">
            <a:avLst/>
          </a:prstGeom>
          <a:solidFill>
            <a:srgbClr val="C77414"/>
          </a:solidFill>
          <a:ln/>
        </p:spPr>
      </p:sp>
      <p:sp>
        <p:nvSpPr>
          <p:cNvPr id="35" name="Text 33"/>
          <p:cNvSpPr/>
          <p:nvPr/>
        </p:nvSpPr>
        <p:spPr>
          <a:xfrm>
            <a:off x="1028700" y="3072384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8</a:t>
            </a:r>
            <a:endParaRPr lang="en-US" sz="630" dirty="0"/>
          </a:p>
        </p:txBody>
      </p:sp>
      <p:sp>
        <p:nvSpPr>
          <p:cNvPr id="36" name="Text 34"/>
          <p:cNvSpPr/>
          <p:nvPr/>
        </p:nvSpPr>
        <p:spPr>
          <a:xfrm>
            <a:off x="1554480" y="30723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570" dirty="0"/>
          </a:p>
        </p:txBody>
      </p:sp>
      <p:sp>
        <p:nvSpPr>
          <p:cNvPr id="37" name="Shape 35"/>
          <p:cNvSpPr/>
          <p:nvPr/>
        </p:nvSpPr>
        <p:spPr>
          <a:xfrm>
            <a:off x="3804981" y="3091434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38" name="Text 36"/>
          <p:cNvSpPr/>
          <p:nvPr/>
        </p:nvSpPr>
        <p:spPr>
          <a:xfrm>
            <a:off x="1028700" y="3206496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9</a:t>
            </a:r>
            <a:endParaRPr lang="en-US" sz="630" dirty="0"/>
          </a:p>
        </p:txBody>
      </p:sp>
      <p:sp>
        <p:nvSpPr>
          <p:cNvPr id="39" name="Text 37"/>
          <p:cNvSpPr/>
          <p:nvPr/>
        </p:nvSpPr>
        <p:spPr>
          <a:xfrm>
            <a:off x="1554480" y="320649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570" dirty="0"/>
          </a:p>
        </p:txBody>
      </p:sp>
      <p:sp>
        <p:nvSpPr>
          <p:cNvPr id="40" name="Shape 38"/>
          <p:cNvSpPr/>
          <p:nvPr/>
        </p:nvSpPr>
        <p:spPr>
          <a:xfrm>
            <a:off x="3918188" y="3225546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41" name="Text 39"/>
          <p:cNvSpPr/>
          <p:nvPr/>
        </p:nvSpPr>
        <p:spPr>
          <a:xfrm>
            <a:off x="1028700" y="3340608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10</a:t>
            </a:r>
            <a:endParaRPr lang="en-US" sz="630" dirty="0"/>
          </a:p>
        </p:txBody>
      </p:sp>
      <p:sp>
        <p:nvSpPr>
          <p:cNvPr id="42" name="Text 40"/>
          <p:cNvSpPr/>
          <p:nvPr/>
        </p:nvSpPr>
        <p:spPr>
          <a:xfrm>
            <a:off x="1554480" y="334060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</a:t>
            </a:r>
            <a:endParaRPr lang="en-US" sz="570" dirty="0"/>
          </a:p>
        </p:txBody>
      </p:sp>
      <p:sp>
        <p:nvSpPr>
          <p:cNvPr id="43" name="Shape 41"/>
          <p:cNvSpPr/>
          <p:nvPr/>
        </p:nvSpPr>
        <p:spPr>
          <a:xfrm>
            <a:off x="3380559" y="3359658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44" name="Text 42"/>
          <p:cNvSpPr/>
          <p:nvPr/>
        </p:nvSpPr>
        <p:spPr>
          <a:xfrm>
            <a:off x="1028700" y="3474720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11</a:t>
            </a:r>
            <a:endParaRPr lang="en-US" sz="630" dirty="0"/>
          </a:p>
        </p:txBody>
      </p:sp>
      <p:sp>
        <p:nvSpPr>
          <p:cNvPr id="45" name="Text 43"/>
          <p:cNvSpPr/>
          <p:nvPr/>
        </p:nvSpPr>
        <p:spPr>
          <a:xfrm>
            <a:off x="1554480" y="347472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570" dirty="0"/>
          </a:p>
        </p:txBody>
      </p:sp>
      <p:sp>
        <p:nvSpPr>
          <p:cNvPr id="46" name="Shape 44"/>
          <p:cNvSpPr/>
          <p:nvPr/>
        </p:nvSpPr>
        <p:spPr>
          <a:xfrm>
            <a:off x="3628717" y="3493770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47" name="Text 45"/>
          <p:cNvSpPr/>
          <p:nvPr/>
        </p:nvSpPr>
        <p:spPr>
          <a:xfrm>
            <a:off x="1028700" y="3608832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12</a:t>
            </a:r>
            <a:endParaRPr lang="en-US" sz="630" dirty="0"/>
          </a:p>
        </p:txBody>
      </p:sp>
      <p:sp>
        <p:nvSpPr>
          <p:cNvPr id="48" name="Text 46"/>
          <p:cNvSpPr/>
          <p:nvPr/>
        </p:nvSpPr>
        <p:spPr>
          <a:xfrm>
            <a:off x="1554480" y="360883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570" dirty="0"/>
          </a:p>
        </p:txBody>
      </p:sp>
      <p:sp>
        <p:nvSpPr>
          <p:cNvPr id="49" name="Shape 47"/>
          <p:cNvSpPr/>
          <p:nvPr/>
        </p:nvSpPr>
        <p:spPr>
          <a:xfrm>
            <a:off x="3925987" y="3627882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50" name="Text 48"/>
          <p:cNvSpPr/>
          <p:nvPr/>
        </p:nvSpPr>
        <p:spPr>
          <a:xfrm>
            <a:off x="1028700" y="3742944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13</a:t>
            </a:r>
            <a:endParaRPr lang="en-US" sz="630" dirty="0"/>
          </a:p>
        </p:txBody>
      </p:sp>
      <p:sp>
        <p:nvSpPr>
          <p:cNvPr id="51" name="Text 49"/>
          <p:cNvSpPr/>
          <p:nvPr/>
        </p:nvSpPr>
        <p:spPr>
          <a:xfrm>
            <a:off x="1554480" y="374294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570" dirty="0"/>
          </a:p>
        </p:txBody>
      </p:sp>
      <p:sp>
        <p:nvSpPr>
          <p:cNvPr id="52" name="Shape 50"/>
          <p:cNvSpPr/>
          <p:nvPr/>
        </p:nvSpPr>
        <p:spPr>
          <a:xfrm>
            <a:off x="3861880" y="3761994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53" name="Text 51"/>
          <p:cNvSpPr/>
          <p:nvPr/>
        </p:nvSpPr>
        <p:spPr>
          <a:xfrm>
            <a:off x="1028700" y="3877056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14</a:t>
            </a:r>
            <a:endParaRPr lang="en-US" sz="630" dirty="0"/>
          </a:p>
        </p:txBody>
      </p:sp>
      <p:sp>
        <p:nvSpPr>
          <p:cNvPr id="54" name="Text 52"/>
          <p:cNvSpPr/>
          <p:nvPr/>
        </p:nvSpPr>
        <p:spPr>
          <a:xfrm>
            <a:off x="1554480" y="387705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570" dirty="0"/>
          </a:p>
        </p:txBody>
      </p:sp>
      <p:sp>
        <p:nvSpPr>
          <p:cNvPr id="55" name="Shape 53"/>
          <p:cNvSpPr/>
          <p:nvPr/>
        </p:nvSpPr>
        <p:spPr>
          <a:xfrm>
            <a:off x="5705278" y="3896106"/>
            <a:ext cx="83820" cy="83820"/>
          </a:xfrm>
          <a:prstGeom prst="ellipse">
            <a:avLst/>
          </a:prstGeom>
          <a:solidFill>
            <a:srgbClr val="C77414"/>
          </a:solidFill>
          <a:ln/>
        </p:spPr>
      </p:sp>
      <p:sp>
        <p:nvSpPr>
          <p:cNvPr id="56" name="Text 54"/>
          <p:cNvSpPr/>
          <p:nvPr/>
        </p:nvSpPr>
        <p:spPr>
          <a:xfrm>
            <a:off x="1028700" y="4011168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15</a:t>
            </a:r>
            <a:endParaRPr lang="en-US" sz="630" dirty="0"/>
          </a:p>
        </p:txBody>
      </p:sp>
      <p:sp>
        <p:nvSpPr>
          <p:cNvPr id="57" name="Text 55"/>
          <p:cNvSpPr/>
          <p:nvPr/>
        </p:nvSpPr>
        <p:spPr>
          <a:xfrm>
            <a:off x="1554480" y="401116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570" dirty="0"/>
          </a:p>
        </p:txBody>
      </p:sp>
      <p:sp>
        <p:nvSpPr>
          <p:cNvPr id="58" name="Shape 56"/>
          <p:cNvSpPr/>
          <p:nvPr/>
        </p:nvSpPr>
        <p:spPr>
          <a:xfrm>
            <a:off x="3603948" y="4030218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59" name="Text 57"/>
          <p:cNvSpPr/>
          <p:nvPr/>
        </p:nvSpPr>
        <p:spPr>
          <a:xfrm>
            <a:off x="1028700" y="4145280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16</a:t>
            </a:r>
            <a:endParaRPr lang="en-US" sz="630" dirty="0"/>
          </a:p>
        </p:txBody>
      </p:sp>
      <p:sp>
        <p:nvSpPr>
          <p:cNvPr id="60" name="Text 58"/>
          <p:cNvSpPr/>
          <p:nvPr/>
        </p:nvSpPr>
        <p:spPr>
          <a:xfrm>
            <a:off x="1554480" y="414528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570" dirty="0"/>
          </a:p>
        </p:txBody>
      </p:sp>
      <p:sp>
        <p:nvSpPr>
          <p:cNvPr id="61" name="Shape 59"/>
          <p:cNvSpPr/>
          <p:nvPr/>
        </p:nvSpPr>
        <p:spPr>
          <a:xfrm>
            <a:off x="3746662" y="4164330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" y="4279392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17</a:t>
            </a:r>
            <a:endParaRPr lang="en-US" sz="630" dirty="0"/>
          </a:p>
        </p:txBody>
      </p:sp>
      <p:sp>
        <p:nvSpPr>
          <p:cNvPr id="63" name="Text 61"/>
          <p:cNvSpPr/>
          <p:nvPr/>
        </p:nvSpPr>
        <p:spPr>
          <a:xfrm>
            <a:off x="1554480" y="427939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</a:t>
            </a:r>
            <a:endParaRPr lang="en-US" sz="570" dirty="0"/>
          </a:p>
        </p:txBody>
      </p:sp>
      <p:sp>
        <p:nvSpPr>
          <p:cNvPr id="64" name="Shape 62"/>
          <p:cNvSpPr/>
          <p:nvPr/>
        </p:nvSpPr>
        <p:spPr>
          <a:xfrm>
            <a:off x="3834075" y="4298442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65" name="Text 63"/>
          <p:cNvSpPr/>
          <p:nvPr/>
        </p:nvSpPr>
        <p:spPr>
          <a:xfrm>
            <a:off x="1028700" y="4413504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18</a:t>
            </a:r>
            <a:endParaRPr lang="en-US" sz="630" dirty="0"/>
          </a:p>
        </p:txBody>
      </p:sp>
      <p:sp>
        <p:nvSpPr>
          <p:cNvPr id="66" name="Text 64"/>
          <p:cNvSpPr/>
          <p:nvPr/>
        </p:nvSpPr>
        <p:spPr>
          <a:xfrm>
            <a:off x="1554480" y="441350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570" dirty="0"/>
          </a:p>
        </p:txBody>
      </p:sp>
      <p:sp>
        <p:nvSpPr>
          <p:cNvPr id="67" name="Shape 65"/>
          <p:cNvSpPr/>
          <p:nvPr/>
        </p:nvSpPr>
        <p:spPr>
          <a:xfrm>
            <a:off x="3798339" y="4432554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" y="4547616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19</a:t>
            </a:r>
            <a:endParaRPr lang="en-US" sz="630" dirty="0"/>
          </a:p>
        </p:txBody>
      </p:sp>
      <p:sp>
        <p:nvSpPr>
          <p:cNvPr id="69" name="Text 67"/>
          <p:cNvSpPr/>
          <p:nvPr/>
        </p:nvSpPr>
        <p:spPr>
          <a:xfrm>
            <a:off x="1554480" y="454761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570" dirty="0"/>
          </a:p>
        </p:txBody>
      </p:sp>
      <p:sp>
        <p:nvSpPr>
          <p:cNvPr id="70" name="Shape 68"/>
          <p:cNvSpPr/>
          <p:nvPr/>
        </p:nvSpPr>
        <p:spPr>
          <a:xfrm>
            <a:off x="3512994" y="4566666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71" name="Text 69"/>
          <p:cNvSpPr/>
          <p:nvPr/>
        </p:nvSpPr>
        <p:spPr>
          <a:xfrm>
            <a:off x="1028700" y="4681728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20</a:t>
            </a:r>
            <a:endParaRPr lang="en-US" sz="630" dirty="0"/>
          </a:p>
        </p:txBody>
      </p:sp>
      <p:sp>
        <p:nvSpPr>
          <p:cNvPr id="72" name="Text 70"/>
          <p:cNvSpPr/>
          <p:nvPr/>
        </p:nvSpPr>
        <p:spPr>
          <a:xfrm>
            <a:off x="1554480" y="468172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570" dirty="0"/>
          </a:p>
        </p:txBody>
      </p:sp>
      <p:sp>
        <p:nvSpPr>
          <p:cNvPr id="73" name="Shape 71"/>
          <p:cNvSpPr/>
          <p:nvPr/>
        </p:nvSpPr>
        <p:spPr>
          <a:xfrm>
            <a:off x="3732578" y="4700778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74" name="Text 72"/>
          <p:cNvSpPr/>
          <p:nvPr/>
        </p:nvSpPr>
        <p:spPr>
          <a:xfrm>
            <a:off x="1028700" y="4815840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21</a:t>
            </a:r>
            <a:endParaRPr lang="en-US" sz="630" dirty="0"/>
          </a:p>
        </p:txBody>
      </p:sp>
      <p:sp>
        <p:nvSpPr>
          <p:cNvPr id="75" name="Text 73"/>
          <p:cNvSpPr/>
          <p:nvPr/>
        </p:nvSpPr>
        <p:spPr>
          <a:xfrm>
            <a:off x="1554480" y="481584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570" dirty="0"/>
          </a:p>
        </p:txBody>
      </p:sp>
      <p:sp>
        <p:nvSpPr>
          <p:cNvPr id="76" name="Shape 74"/>
          <p:cNvSpPr/>
          <p:nvPr/>
        </p:nvSpPr>
        <p:spPr>
          <a:xfrm>
            <a:off x="6065518" y="4834890"/>
            <a:ext cx="83820" cy="83820"/>
          </a:xfrm>
          <a:prstGeom prst="ellipse">
            <a:avLst/>
          </a:prstGeom>
          <a:solidFill>
            <a:srgbClr val="C77414"/>
          </a:solidFill>
          <a:ln/>
        </p:spPr>
      </p:sp>
      <p:sp>
        <p:nvSpPr>
          <p:cNvPr id="77" name="Text 75"/>
          <p:cNvSpPr/>
          <p:nvPr/>
        </p:nvSpPr>
        <p:spPr>
          <a:xfrm>
            <a:off x="1028700" y="4949952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22</a:t>
            </a:r>
            <a:endParaRPr lang="en-US" sz="630" dirty="0"/>
          </a:p>
        </p:txBody>
      </p:sp>
      <p:sp>
        <p:nvSpPr>
          <p:cNvPr id="78" name="Text 76"/>
          <p:cNvSpPr/>
          <p:nvPr/>
        </p:nvSpPr>
        <p:spPr>
          <a:xfrm>
            <a:off x="1554480" y="494995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570" dirty="0"/>
          </a:p>
        </p:txBody>
      </p:sp>
      <p:sp>
        <p:nvSpPr>
          <p:cNvPr id="79" name="Shape 77"/>
          <p:cNvSpPr/>
          <p:nvPr/>
        </p:nvSpPr>
        <p:spPr>
          <a:xfrm>
            <a:off x="3535269" y="4969002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80" name="Text 78"/>
          <p:cNvSpPr/>
          <p:nvPr/>
        </p:nvSpPr>
        <p:spPr>
          <a:xfrm>
            <a:off x="1028700" y="5084064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23</a:t>
            </a:r>
            <a:endParaRPr lang="en-US" sz="630" dirty="0"/>
          </a:p>
        </p:txBody>
      </p:sp>
      <p:sp>
        <p:nvSpPr>
          <p:cNvPr id="81" name="Text 79"/>
          <p:cNvSpPr/>
          <p:nvPr/>
        </p:nvSpPr>
        <p:spPr>
          <a:xfrm>
            <a:off x="1554480" y="508406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570" dirty="0"/>
          </a:p>
        </p:txBody>
      </p:sp>
      <p:sp>
        <p:nvSpPr>
          <p:cNvPr id="82" name="Shape 80"/>
          <p:cNvSpPr/>
          <p:nvPr/>
        </p:nvSpPr>
        <p:spPr>
          <a:xfrm>
            <a:off x="3789735" y="5103114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83" name="Text 81"/>
          <p:cNvSpPr/>
          <p:nvPr/>
        </p:nvSpPr>
        <p:spPr>
          <a:xfrm>
            <a:off x="1028700" y="5218176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24</a:t>
            </a:r>
            <a:endParaRPr lang="en-US" sz="630" dirty="0"/>
          </a:p>
        </p:txBody>
      </p:sp>
      <p:sp>
        <p:nvSpPr>
          <p:cNvPr id="84" name="Text 82"/>
          <p:cNvSpPr/>
          <p:nvPr/>
        </p:nvSpPr>
        <p:spPr>
          <a:xfrm>
            <a:off x="1554480" y="521817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</a:t>
            </a:r>
            <a:endParaRPr lang="en-US" sz="570" dirty="0"/>
          </a:p>
        </p:txBody>
      </p:sp>
      <p:sp>
        <p:nvSpPr>
          <p:cNvPr id="85" name="Shape 83"/>
          <p:cNvSpPr/>
          <p:nvPr/>
        </p:nvSpPr>
        <p:spPr>
          <a:xfrm>
            <a:off x="3526018" y="5237226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86" name="Text 84"/>
          <p:cNvSpPr/>
          <p:nvPr/>
        </p:nvSpPr>
        <p:spPr>
          <a:xfrm>
            <a:off x="1028700" y="5352288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25</a:t>
            </a:r>
            <a:endParaRPr lang="en-US" sz="630" dirty="0"/>
          </a:p>
        </p:txBody>
      </p:sp>
      <p:sp>
        <p:nvSpPr>
          <p:cNvPr id="87" name="Text 85"/>
          <p:cNvSpPr/>
          <p:nvPr/>
        </p:nvSpPr>
        <p:spPr>
          <a:xfrm>
            <a:off x="1554480" y="535228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570" dirty="0"/>
          </a:p>
        </p:txBody>
      </p:sp>
      <p:sp>
        <p:nvSpPr>
          <p:cNvPr id="88" name="Shape 86"/>
          <p:cNvSpPr/>
          <p:nvPr/>
        </p:nvSpPr>
        <p:spPr>
          <a:xfrm>
            <a:off x="3636727" y="5371338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89" name="Text 87"/>
          <p:cNvSpPr/>
          <p:nvPr/>
        </p:nvSpPr>
        <p:spPr>
          <a:xfrm>
            <a:off x="1028700" y="5486400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26</a:t>
            </a:r>
            <a:endParaRPr lang="en-US" sz="630" dirty="0"/>
          </a:p>
        </p:txBody>
      </p:sp>
      <p:sp>
        <p:nvSpPr>
          <p:cNvPr id="90" name="Text 88"/>
          <p:cNvSpPr/>
          <p:nvPr/>
        </p:nvSpPr>
        <p:spPr>
          <a:xfrm>
            <a:off x="1554480" y="548640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570" dirty="0"/>
          </a:p>
        </p:txBody>
      </p:sp>
      <p:sp>
        <p:nvSpPr>
          <p:cNvPr id="91" name="Shape 89"/>
          <p:cNvSpPr/>
          <p:nvPr/>
        </p:nvSpPr>
        <p:spPr>
          <a:xfrm>
            <a:off x="3540241" y="5505450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92" name="Text 90"/>
          <p:cNvSpPr/>
          <p:nvPr/>
        </p:nvSpPr>
        <p:spPr>
          <a:xfrm>
            <a:off x="1028700" y="5620512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27</a:t>
            </a:r>
            <a:endParaRPr lang="en-US" sz="630" dirty="0"/>
          </a:p>
        </p:txBody>
      </p:sp>
      <p:sp>
        <p:nvSpPr>
          <p:cNvPr id="93" name="Text 91"/>
          <p:cNvSpPr/>
          <p:nvPr/>
        </p:nvSpPr>
        <p:spPr>
          <a:xfrm>
            <a:off x="1554480" y="56205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570" dirty="0"/>
          </a:p>
        </p:txBody>
      </p:sp>
      <p:sp>
        <p:nvSpPr>
          <p:cNvPr id="94" name="Shape 92"/>
          <p:cNvSpPr/>
          <p:nvPr/>
        </p:nvSpPr>
        <p:spPr>
          <a:xfrm>
            <a:off x="3598510" y="5639562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95" name="Text 93"/>
          <p:cNvSpPr/>
          <p:nvPr/>
        </p:nvSpPr>
        <p:spPr>
          <a:xfrm>
            <a:off x="1028700" y="5754624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28</a:t>
            </a:r>
            <a:endParaRPr lang="en-US" sz="630" dirty="0"/>
          </a:p>
        </p:txBody>
      </p:sp>
      <p:sp>
        <p:nvSpPr>
          <p:cNvPr id="96" name="Text 94"/>
          <p:cNvSpPr/>
          <p:nvPr/>
        </p:nvSpPr>
        <p:spPr>
          <a:xfrm>
            <a:off x="1554480" y="575462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570" dirty="0"/>
          </a:p>
        </p:txBody>
      </p:sp>
      <p:sp>
        <p:nvSpPr>
          <p:cNvPr id="97" name="Shape 95"/>
          <p:cNvSpPr/>
          <p:nvPr/>
        </p:nvSpPr>
        <p:spPr>
          <a:xfrm>
            <a:off x="6028980" y="5773674"/>
            <a:ext cx="83820" cy="83820"/>
          </a:xfrm>
          <a:prstGeom prst="ellipse">
            <a:avLst/>
          </a:prstGeom>
          <a:solidFill>
            <a:srgbClr val="C77414"/>
          </a:solidFill>
          <a:ln/>
        </p:spPr>
      </p:sp>
      <p:sp>
        <p:nvSpPr>
          <p:cNvPr id="98" name="Text 96"/>
          <p:cNvSpPr/>
          <p:nvPr/>
        </p:nvSpPr>
        <p:spPr>
          <a:xfrm>
            <a:off x="1028700" y="5888736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29</a:t>
            </a:r>
            <a:endParaRPr lang="en-US" sz="630" dirty="0"/>
          </a:p>
        </p:txBody>
      </p:sp>
      <p:sp>
        <p:nvSpPr>
          <p:cNvPr id="99" name="Text 97"/>
          <p:cNvSpPr/>
          <p:nvPr/>
        </p:nvSpPr>
        <p:spPr>
          <a:xfrm>
            <a:off x="1554480" y="588873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570" dirty="0"/>
          </a:p>
        </p:txBody>
      </p:sp>
      <p:sp>
        <p:nvSpPr>
          <p:cNvPr id="100" name="Shape 98"/>
          <p:cNvSpPr/>
          <p:nvPr/>
        </p:nvSpPr>
        <p:spPr>
          <a:xfrm>
            <a:off x="3760584" y="5907786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101" name="Text 99"/>
          <p:cNvSpPr/>
          <p:nvPr/>
        </p:nvSpPr>
        <p:spPr>
          <a:xfrm>
            <a:off x="1028700" y="6022848"/>
            <a:ext cx="47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B4A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30</a:t>
            </a:r>
            <a:endParaRPr lang="en-US" sz="630" dirty="0"/>
          </a:p>
        </p:txBody>
      </p:sp>
      <p:sp>
        <p:nvSpPr>
          <p:cNvPr id="102" name="Text 100"/>
          <p:cNvSpPr/>
          <p:nvPr/>
        </p:nvSpPr>
        <p:spPr>
          <a:xfrm>
            <a:off x="1554480" y="602284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CF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570" dirty="0"/>
          </a:p>
        </p:txBody>
      </p:sp>
      <p:sp>
        <p:nvSpPr>
          <p:cNvPr id="103" name="Shape 101"/>
          <p:cNvSpPr/>
          <p:nvPr/>
        </p:nvSpPr>
        <p:spPr>
          <a:xfrm>
            <a:off x="3523942" y="6041898"/>
            <a:ext cx="83820" cy="8382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104" name="Shape 102"/>
          <p:cNvSpPr/>
          <p:nvPr/>
        </p:nvSpPr>
        <p:spPr>
          <a:xfrm>
            <a:off x="3788229" y="2148840"/>
            <a:ext cx="0" cy="4130040"/>
          </a:xfrm>
          <a:prstGeom prst="line">
            <a:avLst/>
          </a:prstGeom>
          <a:noFill/>
          <a:ln w="17780">
            <a:solidFill>
              <a:srgbClr val="0A5A53"/>
            </a:solidFill>
            <a:prstDash val="sysDot"/>
          </a:ln>
        </p:spPr>
      </p:sp>
      <p:sp>
        <p:nvSpPr>
          <p:cNvPr id="105" name="Text 103"/>
          <p:cNvSpPr/>
          <p:nvPr/>
        </p:nvSpPr>
        <p:spPr>
          <a:xfrm>
            <a:off x="3407229" y="6324600"/>
            <a:ext cx="762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A5A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6:45 AM</a:t>
            </a:r>
            <a:endParaRPr lang="en-US" sz="780" dirty="0"/>
          </a:p>
        </p:txBody>
      </p:sp>
      <p:sp>
        <p:nvSpPr>
          <p:cNvPr id="106" name="Text 104"/>
          <p:cNvSpPr/>
          <p:nvPr/>
        </p:nvSpPr>
        <p:spPr>
          <a:xfrm>
            <a:off x="8107680" y="213360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2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</a:t>
            </a:r>
            <a:pPr indent="0" marL="0">
              <a:buNone/>
            </a:pPr>
            <a:r>
              <a:rPr lang="en-US" sz="2520" dirty="0">
                <a:solidFill>
                  <a:srgbClr val="8A81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5520" dirty="0"/>
          </a:p>
        </p:txBody>
      </p:sp>
      <p:sp>
        <p:nvSpPr>
          <p:cNvPr id="107" name="Text 105"/>
          <p:cNvSpPr/>
          <p:nvPr/>
        </p:nvSpPr>
        <p:spPr>
          <a:xfrm>
            <a:off x="8107680" y="3048000"/>
            <a:ext cx="304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220" kern="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SURE ABOUT DADAJI'S BATH</a:t>
            </a:r>
            <a:endParaRPr lang="en-US" sz="720" dirty="0"/>
          </a:p>
        </p:txBody>
      </p:sp>
      <p:sp>
        <p:nvSpPr>
          <p:cNvPr id="108" name="Shape 106"/>
          <p:cNvSpPr/>
          <p:nvPr/>
        </p:nvSpPr>
        <p:spPr>
          <a:xfrm>
            <a:off x="8107680" y="3581400"/>
            <a:ext cx="30480" cy="594360"/>
          </a:xfrm>
          <a:prstGeom prst="roundRect">
            <a:avLst>
              <a:gd name="adj" fmla="val 30000"/>
            </a:avLst>
          </a:prstGeom>
          <a:solidFill>
            <a:srgbClr val="0E7C72"/>
          </a:solidFill>
          <a:ln/>
        </p:spPr>
      </p:sp>
      <p:sp>
        <p:nvSpPr>
          <p:cNvPr id="109" name="Text 107"/>
          <p:cNvSpPr/>
          <p:nvPr/>
        </p:nvSpPr>
        <p:spPr>
          <a:xfrm>
            <a:off x="8260080" y="3566160"/>
            <a:ext cx="289560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14 —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she's sure now. Dadaji bathes at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6:45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every weekday.</a:t>
            </a:r>
            <a:endParaRPr lang="en-US" sz="1020" dirty="0"/>
          </a:p>
        </p:txBody>
      </p:sp>
      <p:sp>
        <p:nvSpPr>
          <p:cNvPr id="110" name="Shape 108"/>
          <p:cNvSpPr/>
          <p:nvPr/>
        </p:nvSpPr>
        <p:spPr>
          <a:xfrm>
            <a:off x="8107680" y="4343400"/>
            <a:ext cx="30480" cy="594360"/>
          </a:xfrm>
          <a:prstGeom prst="roundRect">
            <a:avLst>
              <a:gd name="adj" fmla="val 30000"/>
            </a:avLst>
          </a:prstGeom>
          <a:solidFill>
            <a:srgbClr val="C77414"/>
          </a:solidFill>
          <a:ln/>
        </p:spPr>
      </p:sp>
      <p:sp>
        <p:nvSpPr>
          <p:cNvPr id="111" name="Text 109"/>
          <p:cNvSpPr/>
          <p:nvPr/>
        </p:nvSpPr>
        <p:spPr>
          <a:xfrm>
            <a:off x="8260080" y="4328160"/>
            <a:ext cx="289560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Sundays?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Around 8.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She knows that too.</a:t>
            </a:r>
            <a:endParaRPr lang="en-US" sz="1020" dirty="0"/>
          </a:p>
        </p:txBody>
      </p:sp>
      <p:sp>
        <p:nvSpPr>
          <p:cNvPr id="112" name="Shape 110"/>
          <p:cNvSpPr/>
          <p:nvPr/>
        </p:nvSpPr>
        <p:spPr>
          <a:xfrm>
            <a:off x="8107680" y="5105400"/>
            <a:ext cx="30480" cy="594360"/>
          </a:xfrm>
          <a:prstGeom prst="roundRect">
            <a:avLst>
              <a:gd name="adj" fmla="val 30000"/>
            </a:avLst>
          </a:prstGeom>
          <a:solidFill>
            <a:srgbClr val="0E7C72"/>
          </a:solidFill>
          <a:ln/>
        </p:spPr>
      </p:sp>
      <p:sp>
        <p:nvSpPr>
          <p:cNvPr id="113" name="Text 111"/>
          <p:cNvSpPr/>
          <p:nvPr/>
        </p:nvSpPr>
        <p:spPr>
          <a:xfrm>
            <a:off x="8260080" y="5090160"/>
            <a:ext cx="289560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one told her. She just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watched the geyser.</a:t>
            </a:r>
            <a:endParaRPr lang="en-US" sz="1020" dirty="0"/>
          </a:p>
        </p:txBody>
      </p:sp>
      <p:sp>
        <p:nvSpPr>
          <p:cNvPr id="114" name="Text 112"/>
          <p:cNvSpPr/>
          <p:nvPr/>
        </p:nvSpPr>
        <p:spPr>
          <a:xfrm>
            <a:off x="10972800" y="646176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spc="150" kern="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9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40080"/>
            <a:ext cx="5334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 NEED AS A CUSTOMER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6800" y="9296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2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things a family would </a:t>
            </a:r>
            <a:pPr indent="0" marL="0">
              <a:buNone/>
            </a:pPr>
            <a:r>
              <a:rPr lang="en-US" sz="3720" i="1" dirty="0">
                <a:solidFill>
                  <a:srgbClr val="0E7C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actually ask for</a:t>
            </a:r>
            <a:pPr indent="0" marL="0">
              <a:buNone/>
            </a:pPr>
            <a:r>
              <a:rPr lang="en-US" sz="372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720" dirty="0"/>
          </a:p>
        </p:txBody>
      </p:sp>
      <p:sp>
        <p:nvSpPr>
          <p:cNvPr id="4" name="Text 2"/>
          <p:cNvSpPr/>
          <p:nvPr/>
        </p:nvSpPr>
        <p:spPr>
          <a:xfrm>
            <a:off x="1066800" y="2042160"/>
            <a:ext cx="396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C77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pPr indent="0" marL="0">
              <a:buNone/>
            </a:pPr>
            <a:r>
              <a:rPr lang="en-US" sz="168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should already be ready.</a:t>
            </a:r>
            <a:pPr indent="0" marL="0">
              <a:buNone/>
            </a:pPr>
            <a:r>
              <a:rPr lang="en-US" sz="1680" dirty="0">
                <a:solidFill>
                  <a:srgbClr val="C77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1680" dirty="0"/>
          </a:p>
        </p:txBody>
      </p:sp>
      <p:sp>
        <p:nvSpPr>
          <p:cNvPr id="5" name="Text 3"/>
          <p:cNvSpPr/>
          <p:nvPr/>
        </p:nvSpPr>
        <p:spPr>
          <a:xfrm>
            <a:off x="5562600" y="2026920"/>
            <a:ext cx="5562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acts ahead of the routine</a:t>
            </a:r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geyser is hot before the 6:45 bath, the living room is cool before Rajesh walks in. Zero commands for the daily rhythm.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1066800" y="2819400"/>
            <a:ext cx="100584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6800" y="2971800"/>
            <a:ext cx="396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C77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pPr indent="0" marL="0">
              <a:buNone/>
            </a:pPr>
            <a:r>
              <a:rPr lang="en-US" sz="168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should understand my home.</a:t>
            </a:r>
            <a:pPr indent="0" marL="0">
              <a:buNone/>
            </a:pPr>
            <a:r>
              <a:rPr lang="en-US" sz="1680" dirty="0">
                <a:solidFill>
                  <a:srgbClr val="C77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5562600" y="2956560"/>
            <a:ext cx="5562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India-first context, not hardcoded rules</a:t>
            </a:r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pooja mornings, tariff windows, power cuts, tuition hours all ride into the reasoning as context it actually weighs.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066800" y="3749040"/>
            <a:ext cx="100584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6800" y="3901440"/>
            <a:ext cx="396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C77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pPr indent="0" marL="0">
              <a:buNone/>
            </a:pPr>
            <a:r>
              <a:rPr lang="en-US" sz="168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should never overreach.</a:t>
            </a:r>
            <a:pPr indent="0" marL="0">
              <a:buNone/>
            </a:pPr>
            <a:r>
              <a:rPr lang="en-US" sz="1680" dirty="0">
                <a:solidFill>
                  <a:srgbClr val="C77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1680" dirty="0"/>
          </a:p>
        </p:txBody>
      </p:sp>
      <p:sp>
        <p:nvSpPr>
          <p:cNvPr id="11" name="Text 9"/>
          <p:cNvSpPr/>
          <p:nvPr/>
        </p:nvSpPr>
        <p:spPr>
          <a:xfrm>
            <a:off x="5562600" y="3886200"/>
            <a:ext cx="5562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Autonomy is graduated and earned</a:t>
            </a:r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five trust tiers per device category; one override immediately lowers what it may do on its own.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1066800" y="4678680"/>
            <a:ext cx="100584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6800" y="4831080"/>
            <a:ext cx="396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C77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pPr indent="0" marL="0">
              <a:buNone/>
            </a:pPr>
            <a:r>
              <a:rPr lang="en-US" sz="168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should explain itself.</a:t>
            </a:r>
            <a:pPr indent="0" marL="0">
              <a:buNone/>
            </a:pPr>
            <a:r>
              <a:rPr lang="en-US" sz="1680" dirty="0">
                <a:solidFill>
                  <a:srgbClr val="C77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1680" dirty="0"/>
          </a:p>
        </p:txBody>
      </p:sp>
      <p:sp>
        <p:nvSpPr>
          <p:cNvPr id="14" name="Text 12"/>
          <p:cNvSpPr/>
          <p:nvPr/>
        </p:nvSpPr>
        <p:spPr>
          <a:xfrm>
            <a:off x="5562600" y="4815840"/>
            <a:ext cx="5562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action ships with a plain-language reason</a:t>
            </a:r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"pre-heating the geyser at 05:15, the family wakes around 06:00" — and a one-tap Override.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1066800" y="5608320"/>
            <a:ext cx="100584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0" y="646176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spc="150" kern="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9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63880"/>
            <a:ext cx="12191695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853440"/>
            <a:ext cx="1219169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8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day in an </a:t>
            </a:r>
            <a:pPr algn="ctr" indent="0" marL="0">
              <a:buNone/>
            </a:pPr>
            <a:r>
              <a:rPr lang="en-US" sz="3480" i="1" dirty="0">
                <a:solidFill>
                  <a:srgbClr val="0E7C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home</a:t>
            </a:r>
            <a:pPr algn="ctr" indent="0" marL="0">
              <a:buNone/>
            </a:pPr>
            <a:r>
              <a:rPr lang="en-US" sz="348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480" dirty="0"/>
          </a:p>
        </p:txBody>
      </p:sp>
      <p:sp>
        <p:nvSpPr>
          <p:cNvPr id="4" name="Shape 2"/>
          <p:cNvSpPr/>
          <p:nvPr/>
        </p:nvSpPr>
        <p:spPr>
          <a:xfrm>
            <a:off x="1333500" y="1905000"/>
            <a:ext cx="9525000" cy="4324111"/>
          </a:xfrm>
          <a:prstGeom prst="rect">
            <a:avLst/>
          </a:prstGeom>
          <a:solidFill>
            <a:srgbClr val="1D1A15"/>
          </a:solidFill>
          <a:ln/>
          <a:effectLst>
            <a:outerShdw sx="100000" sy="100000" kx="0" ky="0" algn="bl" rotWithShape="0" blurRad="279400" dist="76200" dir="5400000">
              <a:srgbClr val="3C301A">
                <a:alpha val="30000"/>
              </a:srgbClr>
            </a:outerShdw>
          </a:effectLst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333500" y="1905000"/>
            <a:ext cx="9525000" cy="43241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6176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spc="150" kern="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9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426720"/>
            <a:ext cx="5334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6800" y="701040"/>
            <a:ext cx="10134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2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routine model that knows the house, an LLM that knows </a:t>
            </a:r>
            <a:pPr indent="0" marL="0">
              <a:buNone/>
            </a:pPr>
            <a:r>
              <a:rPr lang="en-US" sz="2520" i="1" dirty="0">
                <a:solidFill>
                  <a:srgbClr val="0E7C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</a:t>
            </a:r>
            <a:pPr indent="0" marL="0">
              <a:buNone/>
            </a:pPr>
            <a:r>
              <a:rPr lang="en-US" sz="252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520" dirty="0"/>
          </a:p>
        </p:txBody>
      </p:sp>
      <p:sp>
        <p:nvSpPr>
          <p:cNvPr id="4" name="Text 2"/>
          <p:cNvSpPr/>
          <p:nvPr/>
        </p:nvSpPr>
        <p:spPr>
          <a:xfrm>
            <a:off x="1066800" y="1173480"/>
            <a:ext cx="10134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loop runs all day — </a:t>
            </a:r>
            <a:pPr indent="0" marL="0">
              <a:buNone/>
            </a:pPr>
            <a:r>
              <a:rPr lang="en-US" sz="102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SENSE → THINK → ACT → EXPLAIN</a:t>
            </a:r>
            <a:pPr indent="0" marL="0">
              <a:buNone/>
            </a:pPr>
            <a:r>
              <a:rPr lang="en-US" sz="102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slow-learned trends meeting today’s context in the reasoning core.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1066800" y="1600200"/>
            <a:ext cx="457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E7C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— THE DECISION PATH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066800" y="1859280"/>
            <a:ext cx="1828800" cy="1295400"/>
          </a:xfrm>
          <a:prstGeom prst="roundRect">
            <a:avLst>
              <a:gd name="adj" fmla="val 8471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6800" y="1859280"/>
            <a:ext cx="1828800" cy="53340"/>
          </a:xfrm>
          <a:prstGeom prst="roundRect">
            <a:avLst>
              <a:gd name="adj" fmla="val 34286"/>
            </a:avLst>
          </a:prstGeom>
          <a:solidFill>
            <a:srgbClr val="0E7C72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1981200"/>
            <a:ext cx="152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spc="180" kern="0" dirty="0">
                <a:solidFill>
                  <a:srgbClr val="0E7C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CAPTURE</a:t>
            </a:r>
            <a:endParaRPr lang="en-US" sz="690" dirty="0"/>
          </a:p>
        </p:txBody>
      </p:sp>
      <p:sp>
        <p:nvSpPr>
          <p:cNvPr id="9" name="Text 7"/>
          <p:cNvSpPr/>
          <p:nvPr/>
        </p:nvSpPr>
        <p:spPr>
          <a:xfrm>
            <a:off x="1219200" y="2148840"/>
            <a:ext cx="15697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events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1219200" y="2377440"/>
            <a:ext cx="156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left or arrived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lights &amp; appliances on/off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geyser · AC · motor usage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temperature &amp; occupancy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interactions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352800" y="1996440"/>
            <a:ext cx="1409700" cy="1021080"/>
          </a:xfrm>
          <a:prstGeom prst="roundRect">
            <a:avLst>
              <a:gd name="adj" fmla="val 10746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2800" y="1996440"/>
            <a:ext cx="1409700" cy="53340"/>
          </a:xfrm>
          <a:prstGeom prst="roundRect">
            <a:avLst>
              <a:gd name="adj" fmla="val 34286"/>
            </a:avLst>
          </a:prstGeom>
          <a:solidFill>
            <a:srgbClr val="0E7C72"/>
          </a:solidFill>
          <a:ln/>
        </p:spPr>
      </p:sp>
      <p:sp>
        <p:nvSpPr>
          <p:cNvPr id="13" name="Text 11"/>
          <p:cNvSpPr/>
          <p:nvPr/>
        </p:nvSpPr>
        <p:spPr>
          <a:xfrm>
            <a:off x="3505200" y="2118360"/>
            <a:ext cx="11049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spc="180" kern="0" dirty="0">
                <a:solidFill>
                  <a:srgbClr val="0E7C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INGEST</a:t>
            </a:r>
            <a:endParaRPr lang="en-US" sz="690" dirty="0"/>
          </a:p>
        </p:txBody>
      </p:sp>
      <p:sp>
        <p:nvSpPr>
          <p:cNvPr id="14" name="Text 12"/>
          <p:cNvSpPr/>
          <p:nvPr/>
        </p:nvSpPr>
        <p:spPr>
          <a:xfrm>
            <a:off x="3505200" y="2286000"/>
            <a:ext cx="11506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stream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3505200" y="2514600"/>
            <a:ext cx="1150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&amp; de-duplicate,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enrich with device,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member, room, time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5219700" y="1996440"/>
            <a:ext cx="1447800" cy="1021080"/>
          </a:xfrm>
          <a:prstGeom prst="roundRect">
            <a:avLst>
              <a:gd name="adj" fmla="val 10746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9700" y="1996440"/>
            <a:ext cx="1447800" cy="53340"/>
          </a:xfrm>
          <a:prstGeom prst="roundRect">
            <a:avLst>
              <a:gd name="adj" fmla="val 34286"/>
            </a:avLst>
          </a:prstGeom>
          <a:solidFill>
            <a:srgbClr val="0E7C72"/>
          </a:solidFill>
          <a:ln/>
        </p:spPr>
      </p:sp>
      <p:sp>
        <p:nvSpPr>
          <p:cNvPr id="18" name="Text 16"/>
          <p:cNvSpPr/>
          <p:nvPr/>
        </p:nvSpPr>
        <p:spPr>
          <a:xfrm>
            <a:off x="5372100" y="21183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spc="180" kern="0" dirty="0">
                <a:solidFill>
                  <a:srgbClr val="0E7C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STORE</a:t>
            </a:r>
            <a:endParaRPr lang="en-US" sz="690" dirty="0"/>
          </a:p>
        </p:txBody>
      </p:sp>
      <p:sp>
        <p:nvSpPr>
          <p:cNvPr id="19" name="Text 17"/>
          <p:cNvSpPr/>
          <p:nvPr/>
        </p:nvSpPr>
        <p:spPr>
          <a:xfrm>
            <a:off x="5372100" y="2286000"/>
            <a:ext cx="11887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Time-series DB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5372100" y="2514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event log —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months of the home's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 history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7124700" y="1859280"/>
            <a:ext cx="2019300" cy="1295400"/>
          </a:xfrm>
          <a:prstGeom prst="roundRect">
            <a:avLst>
              <a:gd name="adj" fmla="val 8471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24700" y="1859280"/>
            <a:ext cx="2019300" cy="53340"/>
          </a:xfrm>
          <a:prstGeom prst="roundRect">
            <a:avLst>
              <a:gd name="adj" fmla="val 34286"/>
            </a:avLst>
          </a:prstGeom>
          <a:solidFill>
            <a:srgbClr val="7A4FB3"/>
          </a:solidFill>
          <a:ln/>
        </p:spPr>
      </p:sp>
      <p:sp>
        <p:nvSpPr>
          <p:cNvPr id="23" name="Text 21"/>
          <p:cNvSpPr/>
          <p:nvPr/>
        </p:nvSpPr>
        <p:spPr>
          <a:xfrm>
            <a:off x="7277100" y="1981200"/>
            <a:ext cx="1714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spc="180" kern="0" dirty="0">
                <a:solidFill>
                  <a:srgbClr val="7A4F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· REASONING CORE</a:t>
            </a:r>
            <a:endParaRPr lang="en-US" sz="690" dirty="0"/>
          </a:p>
        </p:txBody>
      </p:sp>
      <p:sp>
        <p:nvSpPr>
          <p:cNvPr id="24" name="Text 22"/>
          <p:cNvSpPr/>
          <p:nvPr/>
        </p:nvSpPr>
        <p:spPr>
          <a:xfrm>
            <a:off x="7277100" y="2148840"/>
            <a:ext cx="17602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Bedrock — Claude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7277100" y="2377440"/>
            <a:ext cx="17602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learned patterns + today's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→ "what should the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do next, and why" —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Alexa+ pattern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9601200" y="1859280"/>
            <a:ext cx="1524000" cy="1295400"/>
          </a:xfrm>
          <a:prstGeom prst="roundRect">
            <a:avLst>
              <a:gd name="adj" fmla="val 8471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601200" y="1859280"/>
            <a:ext cx="1524000" cy="53340"/>
          </a:xfrm>
          <a:prstGeom prst="roundRect">
            <a:avLst>
              <a:gd name="adj" fmla="val 34286"/>
            </a:avLst>
          </a:prstGeom>
          <a:solidFill>
            <a:srgbClr val="221E17"/>
          </a:solidFill>
          <a:ln/>
        </p:spPr>
      </p:sp>
      <p:sp>
        <p:nvSpPr>
          <p:cNvPr id="28" name="Text 26"/>
          <p:cNvSpPr/>
          <p:nvPr/>
        </p:nvSpPr>
        <p:spPr>
          <a:xfrm>
            <a:off x="9753600" y="1981200"/>
            <a:ext cx="121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spc="180" kern="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· TRUST GATE</a:t>
            </a:r>
            <a:endParaRPr lang="en-US" sz="690" dirty="0"/>
          </a:p>
        </p:txBody>
      </p:sp>
      <p:sp>
        <p:nvSpPr>
          <p:cNvPr id="29" name="Text 27"/>
          <p:cNvSpPr/>
          <p:nvPr/>
        </p:nvSpPr>
        <p:spPr>
          <a:xfrm>
            <a:off x="9753600" y="2148840"/>
            <a:ext cx="12649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 &amp; permissions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9753600" y="2377440"/>
            <a:ext cx="126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score ×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earned trust tier →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· suggest ·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 silent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895600" y="2514600"/>
            <a:ext cx="411480" cy="0"/>
          </a:xfrm>
          <a:prstGeom prst="line">
            <a:avLst/>
          </a:prstGeom>
          <a:noFill/>
          <a:ln w="20320">
            <a:solidFill>
              <a:srgbClr val="0E7C7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762500" y="2514600"/>
            <a:ext cx="411480" cy="0"/>
          </a:xfrm>
          <a:prstGeom prst="line">
            <a:avLst/>
          </a:prstGeom>
          <a:noFill/>
          <a:ln w="20320">
            <a:solidFill>
              <a:srgbClr val="0E7C7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67500" y="2362200"/>
            <a:ext cx="411480" cy="0"/>
          </a:xfrm>
          <a:prstGeom prst="line">
            <a:avLst/>
          </a:prstGeom>
          <a:noFill/>
          <a:ln w="20320">
            <a:solidFill>
              <a:srgbClr val="0E7C72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416040" y="192024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A5A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A5A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9144000" y="2286000"/>
            <a:ext cx="411480" cy="0"/>
          </a:xfrm>
          <a:prstGeom prst="line">
            <a:avLst/>
          </a:prstGeom>
          <a:noFill/>
          <a:ln w="20320">
            <a:solidFill>
              <a:srgbClr val="0E7C72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8892540" y="188976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+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0363200" y="3154680"/>
            <a:ext cx="0" cy="457200"/>
          </a:xfrm>
          <a:prstGeom prst="line">
            <a:avLst/>
          </a:prstGeom>
          <a:noFill/>
          <a:ln w="20320">
            <a:solidFill>
              <a:srgbClr val="0E7C72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601200" y="3657600"/>
            <a:ext cx="1524000" cy="762000"/>
          </a:xfrm>
          <a:prstGeom prst="roundRect">
            <a:avLst>
              <a:gd name="adj" fmla="val 14400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601200" y="3657600"/>
            <a:ext cx="1524000" cy="53340"/>
          </a:xfrm>
          <a:prstGeom prst="roundRect">
            <a:avLst>
              <a:gd name="adj" fmla="val 34286"/>
            </a:avLst>
          </a:prstGeom>
          <a:solidFill>
            <a:srgbClr val="0E7C72"/>
          </a:solidFill>
          <a:ln/>
        </p:spPr>
      </p:sp>
      <p:sp>
        <p:nvSpPr>
          <p:cNvPr id="40" name="Text 38"/>
          <p:cNvSpPr/>
          <p:nvPr/>
        </p:nvSpPr>
        <p:spPr>
          <a:xfrm>
            <a:off x="9753600" y="3779520"/>
            <a:ext cx="121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spc="180" kern="0" dirty="0">
                <a:solidFill>
                  <a:srgbClr val="0E7C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· ALEXA ACTS</a:t>
            </a:r>
            <a:endParaRPr lang="en-US" sz="690" dirty="0"/>
          </a:p>
        </p:txBody>
      </p:sp>
      <p:sp>
        <p:nvSpPr>
          <p:cNvPr id="41" name="Text 39"/>
          <p:cNvSpPr/>
          <p:nvPr/>
        </p:nvSpPr>
        <p:spPr>
          <a:xfrm>
            <a:off x="9753600" y="3947160"/>
            <a:ext cx="12649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Takes action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9753600" y="4175760"/>
            <a:ext cx="12649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geyser, AC, lights, locks,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announcements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7124700" y="3657600"/>
            <a:ext cx="2019300" cy="762000"/>
          </a:xfrm>
          <a:prstGeom prst="roundRect">
            <a:avLst>
              <a:gd name="adj" fmla="val 14400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124700" y="3657600"/>
            <a:ext cx="2019300" cy="53340"/>
          </a:xfrm>
          <a:prstGeom prst="roundRect">
            <a:avLst>
              <a:gd name="adj" fmla="val 34286"/>
            </a:avLst>
          </a:prstGeom>
          <a:solidFill>
            <a:srgbClr val="C77414"/>
          </a:solidFill>
          <a:ln/>
        </p:spPr>
      </p:sp>
      <p:sp>
        <p:nvSpPr>
          <p:cNvPr id="45" name="Text 43"/>
          <p:cNvSpPr/>
          <p:nvPr/>
        </p:nvSpPr>
        <p:spPr>
          <a:xfrm>
            <a:off x="7277100" y="3779520"/>
            <a:ext cx="1714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spc="180" kern="0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690" dirty="0"/>
          </a:p>
        </p:txBody>
      </p:sp>
      <p:sp>
        <p:nvSpPr>
          <p:cNvPr id="46" name="Text 44"/>
          <p:cNvSpPr/>
          <p:nvPr/>
        </p:nvSpPr>
        <p:spPr>
          <a:xfrm>
            <a:off x="7277100" y="3947160"/>
            <a:ext cx="17602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context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277100" y="4175760"/>
            <a:ext cx="17602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occupancy · festival or special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· tariff window · weather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 flipV="1">
            <a:off x="8130540" y="3200400"/>
            <a:ext cx="0" cy="457200"/>
          </a:xfrm>
          <a:prstGeom prst="line">
            <a:avLst/>
          </a:prstGeom>
          <a:noFill/>
          <a:ln w="20320">
            <a:solidFill>
              <a:srgbClr val="C77414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5029200" y="4678680"/>
            <a:ext cx="457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— LEARNING THE RHYTHM, NIGHTLY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352800" y="4907280"/>
            <a:ext cx="1409700" cy="1066800"/>
          </a:xfrm>
          <a:prstGeom prst="roundRect">
            <a:avLst>
              <a:gd name="adj" fmla="val 10286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352800" y="4907280"/>
            <a:ext cx="1409700" cy="53340"/>
          </a:xfrm>
          <a:prstGeom prst="roundRect">
            <a:avLst>
              <a:gd name="adj" fmla="val 34286"/>
            </a:avLst>
          </a:prstGeom>
          <a:solidFill>
            <a:srgbClr val="C77414"/>
          </a:solidFill>
          <a:ln/>
        </p:spPr>
      </p:sp>
      <p:sp>
        <p:nvSpPr>
          <p:cNvPr id="52" name="Text 50"/>
          <p:cNvSpPr/>
          <p:nvPr/>
        </p:nvSpPr>
        <p:spPr>
          <a:xfrm>
            <a:off x="3505200" y="5029200"/>
            <a:ext cx="11049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spc="180" kern="0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PROCESS</a:t>
            </a:r>
            <a:endParaRPr lang="en-US" sz="690" dirty="0"/>
          </a:p>
        </p:txBody>
      </p:sp>
      <p:sp>
        <p:nvSpPr>
          <p:cNvPr id="53" name="Text 51"/>
          <p:cNvSpPr/>
          <p:nvPr/>
        </p:nvSpPr>
        <p:spPr>
          <a:xfrm>
            <a:off x="3505200" y="5196840"/>
            <a:ext cx="11506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pipeline</a:t>
            </a:r>
            <a:endParaRPr lang="en-US" sz="960" dirty="0"/>
          </a:p>
        </p:txBody>
      </p:sp>
      <p:sp>
        <p:nvSpPr>
          <p:cNvPr id="54" name="Text 52"/>
          <p:cNvSpPr/>
          <p:nvPr/>
        </p:nvSpPr>
        <p:spPr>
          <a:xfrm>
            <a:off x="3505200" y="5425440"/>
            <a:ext cx="115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&amp; sessionize by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window; features: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time, season, occupancy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5219700" y="4907280"/>
            <a:ext cx="1447800" cy="1066800"/>
          </a:xfrm>
          <a:prstGeom prst="roundRect">
            <a:avLst>
              <a:gd name="adj" fmla="val 10286"/>
            </a:avLst>
          </a:prstGeom>
          <a:solidFill>
            <a:srgbClr val="FFFDF8"/>
          </a:solidFill>
          <a:ln w="9525">
            <a:solidFill>
              <a:srgbClr val="DDD2BA"/>
            </a:solidFill>
            <a:prstDash val="solid"/>
          </a:ln>
          <a:effectLst>
            <a:outerShdw sx="100000" sy="100000" kx="0" ky="0" algn="bl" rotWithShape="0" blurRad="177800" dist="38100" dir="5400000">
              <a:srgbClr val="3C301A">
                <a:alpha val="14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219700" y="4907280"/>
            <a:ext cx="1447800" cy="53340"/>
          </a:xfrm>
          <a:prstGeom prst="roundRect">
            <a:avLst>
              <a:gd name="adj" fmla="val 34286"/>
            </a:avLst>
          </a:prstGeom>
          <a:solidFill>
            <a:srgbClr val="C77414"/>
          </a:solidFill>
          <a:ln/>
        </p:spPr>
      </p:sp>
      <p:sp>
        <p:nvSpPr>
          <p:cNvPr id="57" name="Text 55"/>
          <p:cNvSpPr/>
          <p:nvPr/>
        </p:nvSpPr>
        <p:spPr>
          <a:xfrm>
            <a:off x="5372100" y="502920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spc="180" kern="0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TRAIN</a:t>
            </a:r>
            <a:endParaRPr lang="en-US" sz="690" dirty="0"/>
          </a:p>
        </p:txBody>
      </p:sp>
      <p:sp>
        <p:nvSpPr>
          <p:cNvPr id="58" name="Text 56"/>
          <p:cNvSpPr/>
          <p:nvPr/>
        </p:nvSpPr>
        <p:spPr>
          <a:xfrm>
            <a:off x="5372100" y="5196840"/>
            <a:ext cx="11887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 model — DNN</a:t>
            </a:r>
            <a:endParaRPr lang="en-US" sz="960" dirty="0"/>
          </a:p>
        </p:txBody>
      </p:sp>
      <p:sp>
        <p:nvSpPr>
          <p:cNvPr id="59" name="Text 57"/>
          <p:cNvSpPr/>
          <p:nvPr/>
        </p:nvSpPr>
        <p:spPr>
          <a:xfrm>
            <a:off x="5372100" y="54254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 model over the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series (LSTM /</a:t>
            </a:r>
            <a:endParaRPr lang="en-US" sz="7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Transformer)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5638800" y="3017520"/>
            <a:ext cx="0" cy="1600200"/>
          </a:xfrm>
          <a:prstGeom prst="line">
            <a:avLst/>
          </a:prstGeom>
          <a:noFill/>
          <a:ln w="20320">
            <a:solidFill>
              <a:srgbClr val="C7741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H="1">
            <a:off x="4084320" y="4617720"/>
            <a:ext cx="1554480" cy="0"/>
          </a:xfrm>
          <a:prstGeom prst="line">
            <a:avLst/>
          </a:prstGeom>
          <a:noFill/>
          <a:ln w="20320">
            <a:solidFill>
              <a:srgbClr val="C7741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084320" y="4617720"/>
            <a:ext cx="0" cy="243840"/>
          </a:xfrm>
          <a:prstGeom prst="line">
            <a:avLst/>
          </a:prstGeom>
          <a:noFill/>
          <a:ln w="20320">
            <a:solidFill>
              <a:srgbClr val="C77414"/>
            </a:solidFill>
            <a:prstDash val="solid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5715000" y="373380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historical data</a:t>
            </a:r>
            <a:endParaRPr lang="en-US" sz="7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(months)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762500" y="5440680"/>
            <a:ext cx="411480" cy="0"/>
          </a:xfrm>
          <a:prstGeom prst="line">
            <a:avLst/>
          </a:prstGeom>
          <a:noFill/>
          <a:ln w="20320">
            <a:solidFill>
              <a:srgbClr val="C77414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6667500" y="5440680"/>
            <a:ext cx="2705100" cy="0"/>
          </a:xfrm>
          <a:prstGeom prst="line">
            <a:avLst/>
          </a:prstGeom>
          <a:noFill/>
          <a:ln w="20320">
            <a:solidFill>
              <a:srgbClr val="C7741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9372600" y="2819400"/>
            <a:ext cx="0" cy="2621280"/>
          </a:xfrm>
          <a:prstGeom prst="line">
            <a:avLst/>
          </a:prstGeom>
          <a:noFill/>
          <a:ln w="20320">
            <a:solidFill>
              <a:srgbClr val="C7741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>
            <a:off x="9189720" y="2819400"/>
            <a:ext cx="182880" cy="0"/>
          </a:xfrm>
          <a:prstGeom prst="line">
            <a:avLst/>
          </a:prstGeom>
          <a:noFill/>
          <a:ln w="20320">
            <a:solidFill>
              <a:srgbClr val="C77414"/>
            </a:solidFill>
            <a:prstDash val="solid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6652260" y="5212080"/>
            <a:ext cx="274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learned patterns — P(event x at time t)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0363200" y="4419600"/>
            <a:ext cx="0" cy="1737360"/>
          </a:xfrm>
          <a:prstGeom prst="line">
            <a:avLst/>
          </a:prstGeom>
          <a:noFill/>
          <a:ln w="20320">
            <a:solidFill>
              <a:srgbClr val="8A8172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 flipH="1">
            <a:off x="1295400" y="6156960"/>
            <a:ext cx="9067800" cy="0"/>
          </a:xfrm>
          <a:prstGeom prst="line">
            <a:avLst/>
          </a:prstGeom>
          <a:noFill/>
          <a:ln w="20320">
            <a:solidFill>
              <a:srgbClr val="8A8172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 flipV="1">
            <a:off x="1295400" y="3185160"/>
            <a:ext cx="0" cy="2971800"/>
          </a:xfrm>
          <a:prstGeom prst="line">
            <a:avLst/>
          </a:prstGeom>
          <a:noFill/>
          <a:ln w="20320">
            <a:solidFill>
              <a:srgbClr val="8A8172"/>
            </a:solidFill>
            <a:prstDash val="dash"/>
            <a:tailEnd type="triangle"/>
          </a:ln>
        </p:spPr>
      </p:sp>
      <p:sp>
        <p:nvSpPr>
          <p:cNvPr id="72" name="Text 70"/>
          <p:cNvSpPr/>
          <p:nvPr/>
        </p:nvSpPr>
        <p:spPr>
          <a:xfrm>
            <a:off x="2514600" y="621792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 — accepted or overridden → trust rises or falls · every action becomes tomorrow's training data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1600200" y="4968240"/>
            <a:ext cx="320040" cy="0"/>
          </a:xfrm>
          <a:prstGeom prst="line">
            <a:avLst/>
          </a:prstGeom>
          <a:noFill/>
          <a:ln w="20320">
            <a:solidFill>
              <a:srgbClr val="0E7C7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996440" y="4899660"/>
            <a:ext cx="182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decision path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1600200" y="5166360"/>
            <a:ext cx="320040" cy="0"/>
          </a:xfrm>
          <a:prstGeom prst="line">
            <a:avLst/>
          </a:prstGeom>
          <a:noFill/>
          <a:ln w="20320">
            <a:solidFill>
              <a:srgbClr val="C7741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996440" y="5097780"/>
            <a:ext cx="182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learning path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1600200" y="5364480"/>
            <a:ext cx="320040" cy="0"/>
          </a:xfrm>
          <a:prstGeom prst="line">
            <a:avLst/>
          </a:prstGeom>
          <a:noFill/>
          <a:ln w="20320">
            <a:solidFill>
              <a:srgbClr val="8A8172"/>
            </a:solidFill>
            <a:prstDash val="dash"/>
          </a:ln>
        </p:spPr>
      </p:sp>
      <p:sp>
        <p:nvSpPr>
          <p:cNvPr id="78" name="Text 76"/>
          <p:cNvSpPr/>
          <p:nvPr/>
        </p:nvSpPr>
        <p:spPr>
          <a:xfrm>
            <a:off x="1996440" y="5295900"/>
            <a:ext cx="182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loop</a:t>
            </a:r>
            <a:endParaRPr lang="en-US" sz="780" dirty="0"/>
          </a:p>
        </p:txBody>
      </p:sp>
      <p:sp>
        <p:nvSpPr>
          <p:cNvPr id="79" name="Text 77"/>
          <p:cNvSpPr/>
          <p:nvPr/>
        </p:nvSpPr>
        <p:spPr>
          <a:xfrm>
            <a:off x="10972800" y="646176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spc="150" kern="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9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85800"/>
            <a:ext cx="5334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&amp; FUTURE VISION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6800" y="9753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4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</a:t>
            </a:r>
            <a:pPr indent="0" marL="0">
              <a:buNone/>
            </a:pPr>
            <a:r>
              <a:rPr lang="en-US" sz="3840" i="1" dirty="0">
                <a:solidFill>
                  <a:srgbClr val="0E7C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billion</a:t>
            </a:r>
            <a:pPr indent="0" marL="0">
              <a:buNone/>
            </a:pPr>
            <a:r>
              <a:rPr lang="en-US" sz="384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homes.</a:t>
            </a:r>
            <a:endParaRPr lang="en-US" sz="3840" dirty="0"/>
          </a:p>
        </p:txBody>
      </p:sp>
      <p:sp>
        <p:nvSpPr>
          <p:cNvPr id="4" name="Text 2"/>
          <p:cNvSpPr/>
          <p:nvPr/>
        </p:nvSpPr>
        <p:spPr>
          <a:xfrm>
            <a:off x="1066800" y="1798320"/>
            <a:ext cx="472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Sharma family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6324600" y="1798320"/>
            <a:ext cx="472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scales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1066800" y="22098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2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morning runs itself.</a:t>
            </a:r>
            <a:pPr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Hot water at bath time, the motor off before the tank overflows, doors locked behind the last person out — nobody says a word.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1066800" y="301752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2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power cut isn't an emergency.</a:t>
            </a:r>
            <a:pPr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inverter carries what matters — the online class, the grandparents' room — and quietly sheds the rest.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1066800" y="38252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2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family stays the boss.</a:t>
            </a:r>
            <a:pPr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Every action arrives with its reason; one override, and Alexa asks first next time.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6324600" y="22098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2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Anticipation is the feature India needs.</a:t>
            </a:r>
            <a:pPr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Power cuts, water-supply windows and tariff slots are the daily rhythm here — a purely reactive assistant cannot keep up with them.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6324600" y="301752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2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Amazon, it makes Alexa indispensable.</a:t>
            </a:r>
            <a:pPr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Echo already in the living room becomes the household's brain — not just another speaker.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1066800" y="4693920"/>
            <a:ext cx="10058400" cy="0"/>
          </a:xfrm>
          <a:prstGeom prst="line">
            <a:avLst/>
          </a:prstGeom>
          <a:noFill/>
          <a:ln w="12700">
            <a:solidFill>
              <a:srgbClr val="DDD2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6800" y="4815840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goes next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1066800" y="5212080"/>
            <a:ext cx="2362200" cy="0"/>
          </a:xfrm>
          <a:prstGeom prst="line">
            <a:avLst/>
          </a:prstGeom>
          <a:noFill/>
          <a:ln w="28575">
            <a:solidFill>
              <a:srgbClr val="0E7C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6800" y="5334000"/>
            <a:ext cx="2362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 fusion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066800" y="5577840"/>
            <a:ext cx="2362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7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 the pressure-cooker whistle and the water-motor hum — context from sound and power signatures, no new hardware.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3627120" y="5212080"/>
            <a:ext cx="2362200" cy="0"/>
          </a:xfrm>
          <a:prstGeom prst="line">
            <a:avLst/>
          </a:prstGeom>
          <a:noFill/>
          <a:ln w="28575">
            <a:solidFill>
              <a:srgbClr val="0E7C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27120" y="5334000"/>
            <a:ext cx="2362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Hindi &amp; Hinglish voice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3627120" y="5577840"/>
            <a:ext cx="2362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7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suggestions in the language the household actually speaks, member by member.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187440" y="5212080"/>
            <a:ext cx="2362200" cy="0"/>
          </a:xfrm>
          <a:prstGeom prst="line">
            <a:avLst/>
          </a:prstGeom>
          <a:noFill/>
          <a:ln w="28575">
            <a:solidFill>
              <a:srgbClr val="0E7C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7440" y="5334000"/>
            <a:ext cx="2362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by default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187440" y="5577840"/>
            <a:ext cx="2362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7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 learning moves on-device; only anonymised patterns ever reach the cloud.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8747760" y="5212080"/>
            <a:ext cx="2362200" cy="0"/>
          </a:xfrm>
          <a:prstGeom prst="line">
            <a:avLst/>
          </a:prstGeom>
          <a:noFill/>
          <a:ln w="28575">
            <a:solidFill>
              <a:srgbClr val="0E7C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47760" y="5334000"/>
            <a:ext cx="2362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Beyond one home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747760" y="5577840"/>
            <a:ext cx="2362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70" dirty="0">
                <a:solidFill>
                  <a:srgbClr val="5C55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Matter ecosystem support and society-level insight: a colony that pre-arms for the 14:00 power cut together.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10972800" y="646176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spc="150" kern="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9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798320"/>
            <a:ext cx="5334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774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" y="2148840"/>
            <a:ext cx="9144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20" dirty="0">
                <a:solidFill>
                  <a:srgbClr val="22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5520" dirty="0"/>
          </a:p>
        </p:txBody>
      </p:sp>
      <p:sp>
        <p:nvSpPr>
          <p:cNvPr id="4" name="Text 2"/>
          <p:cNvSpPr/>
          <p:nvPr/>
        </p:nvSpPr>
        <p:spPr>
          <a:xfrm>
            <a:off x="1143000" y="3200400"/>
            <a:ext cx="7620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i="1" dirty="0">
                <a:solidFill>
                  <a:srgbClr val="5C5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Alexa that earns trust, one morning chai at a time.</a:t>
            </a:r>
            <a:endParaRPr lang="en-US" sz="1560" dirty="0"/>
          </a:p>
        </p:txBody>
      </p:sp>
      <p:sp>
        <p:nvSpPr>
          <p:cNvPr id="5" name="Shape 3"/>
          <p:cNvSpPr/>
          <p:nvPr/>
        </p:nvSpPr>
        <p:spPr>
          <a:xfrm>
            <a:off x="1143000" y="3840480"/>
            <a:ext cx="2590800" cy="396240"/>
          </a:xfrm>
          <a:prstGeom prst="roundRect">
            <a:avLst>
              <a:gd name="adj" fmla="val 48462"/>
            </a:avLst>
          </a:prstGeom>
          <a:solidFill>
            <a:srgbClr val="221E17"/>
          </a:solidFill>
          <a:ln/>
        </p:spPr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1143000" y="3840480"/>
            <a:ext cx="25908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u="sng" dirty="0">
                <a:solidFill>
                  <a:srgbClr val="F6F1E7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 — 54.252.207.144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3886200" y="3840480"/>
            <a:ext cx="3200400" cy="396240"/>
          </a:xfrm>
          <a:prstGeom prst="roundRect">
            <a:avLst>
              <a:gd name="adj" fmla="val 48462"/>
            </a:avLst>
          </a:prstGeom>
          <a:solidFill>
            <a:srgbClr val="F6F1E7"/>
          </a:solidFill>
          <a:ln w="15875">
            <a:solidFill>
              <a:srgbClr val="221E17"/>
            </a:solidFill>
            <a:prstDash val="solid"/>
          </a:ln>
        </p:spPr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3886200" y="3840480"/>
            <a:ext cx="3200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u="sng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github.com/piyushk-dev/hackon_project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143000" y="477012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</a:t>
            </a:r>
            <a:pPr indent="0" marL="0">
              <a:buNone/>
            </a:pPr>
            <a:r>
              <a:rPr lang="en-US" sz="1020" b="1" dirty="0">
                <a:solidFill>
                  <a:srgbClr val="221E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 Raisers</a:t>
            </a:r>
            <a:pPr indent="0" marL="0">
              <a:buNone/>
            </a:pPr>
            <a:r>
              <a:rPr lang="en-US" sz="1020" b="1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Priyanshu Agarwal &amp; Piyush Kumar · HackOn with Amazon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10972800" y="646176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spc="150" kern="0" dirty="0">
                <a:solidFill>
                  <a:srgbClr val="8A81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9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Alexa Thinks Ahead — HackOn with Amazon</dc:title>
  <dc:subject>PptxGenJS Presentation</dc:subject>
  <dc:creator>Team Bar Raisers</dc:creator>
  <cp:lastModifiedBy>Team Bar Raisers</cp:lastModifiedBy>
  <cp:revision>1</cp:revision>
  <dcterms:created xsi:type="dcterms:W3CDTF">2026-07-10T19:36:18Z</dcterms:created>
  <dcterms:modified xsi:type="dcterms:W3CDTF">2026-07-10T19:36:18Z</dcterms:modified>
</cp:coreProperties>
</file>